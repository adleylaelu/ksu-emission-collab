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image" Target="../media/image11.png"/><Relationship Id="rId13" Type="http://schemas.openxmlformats.org/officeDocument/2006/relationships/image" Target="../media/image12.png"/><Relationship Id="rId14" Type="http://schemas.openxmlformats.org/officeDocument/2006/relationships/image" Target="../media/image13.png"/><Relationship Id="rId15" Type="http://schemas.openxmlformats.org/officeDocument/2006/relationships/image" Target="../media/image14.png"/><Relationship Id="rId16" Type="http://schemas.openxmlformats.org/officeDocument/2006/relationships/image" Target="../media/image15.png"/><Relationship Id="rId17" Type="http://schemas.openxmlformats.org/officeDocument/2006/relationships/image" Target="../media/image16.png"/><Relationship Id="rId18" Type="http://schemas.openxmlformats.org/officeDocument/2006/relationships/image" Target="../media/image17.png"/><Relationship Id="rId19" Type="http://schemas.openxmlformats.org/officeDocument/2006/relationships/image" Target="../media/image18.png"/><Relationship Id="rId20" Type="http://schemas.openxmlformats.org/officeDocument/2006/relationships/image" Target="../media/image19.png"/><Relationship Id="rId21" Type="http://schemas.openxmlformats.org/officeDocument/2006/relationships/image" Target="../media/image20.png"/><Relationship Id="rId22" Type="http://schemas.openxmlformats.org/officeDocument/2006/relationships/image" Target="../media/image21.png"/><Relationship Id="rId23" Type="http://schemas.openxmlformats.org/officeDocument/2006/relationships/image" Target="../media/image22.png"/><Relationship Id="rId24" Type="http://schemas.openxmlformats.org/officeDocument/2006/relationships/image" Target="../media/image23.png"/><Relationship Id="rId25" Type="http://schemas.openxmlformats.org/officeDocument/2006/relationships/image" Target="../media/image24.png"/><Relationship Id="rId26" Type="http://schemas.openxmlformats.org/officeDocument/2006/relationships/image" Target="../media/image2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43891200" cy="27432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ksu-logo.png"/>
          <p:cNvPicPr>
            <a:picLocks noChangeAspect="1"/>
          </p:cNvPicPr>
          <p:nvPr/>
        </p:nvPicPr>
        <p:blipFill>
          <a:blip r:embed="rId2"/>
          <a:stretch>
            <a:fillRect/>
          </a:stretch>
        </p:blipFill>
        <p:spPr>
          <a:xfrm>
            <a:off x="457200" y="274320"/>
            <a:ext cx="3200400" cy="1762932"/>
          </a:xfrm>
          <a:prstGeom prst="rect">
            <a:avLst/>
          </a:prstGeom>
        </p:spPr>
      </p:pic>
      <p:sp>
        <p:nvSpPr>
          <p:cNvPr id="4" name="TextBox 3"/>
          <p:cNvSpPr txBox="1"/>
          <p:nvPr/>
        </p:nvSpPr>
        <p:spPr>
          <a:xfrm>
            <a:off x="4572000" y="182880"/>
            <a:ext cx="34747200" cy="1097280"/>
          </a:xfrm>
          <a:prstGeom prst="rect">
            <a:avLst/>
          </a:prstGeom>
          <a:noFill/>
        </p:spPr>
        <p:txBody>
          <a:bodyPr wrap="square"/>
          <a:lstStyle/>
          <a:p>
            <a:pPr algn="ctr"/>
            <a:r>
              <a:rPr sz="6800" b="1" i="0">
                <a:solidFill>
                  <a:srgbClr val="FFFFFF"/>
                </a:solidFill>
                <a:latin typeface="Arial"/>
              </a:rPr>
              <a:t>National Energy and Emission Modeling and Analysis Tool</a:t>
            </a:r>
          </a:p>
        </p:txBody>
      </p:sp>
      <p:sp>
        <p:nvSpPr>
          <p:cNvPr id="5" name="TextBox 4"/>
          <p:cNvSpPr txBox="1"/>
          <p:nvPr/>
        </p:nvSpPr>
        <p:spPr>
          <a:xfrm>
            <a:off x="4572000" y="1280160"/>
            <a:ext cx="34747200" cy="640080"/>
          </a:xfrm>
          <a:prstGeom prst="rect">
            <a:avLst/>
          </a:prstGeom>
          <a:noFill/>
        </p:spPr>
        <p:txBody>
          <a:bodyPr wrap="square"/>
          <a:lstStyle/>
          <a:p>
            <a:pPr algn="ctr"/>
            <a:r>
              <a:rPr sz="4800" b="1" i="0">
                <a:solidFill>
                  <a:srgbClr val="FDBB30"/>
                </a:solidFill>
                <a:latin typeface="Arial"/>
              </a:rPr>
              <a:t>NEEMAT</a:t>
            </a:r>
          </a:p>
        </p:txBody>
      </p:sp>
      <p:sp>
        <p:nvSpPr>
          <p:cNvPr id="6" name="TextBox 5"/>
          <p:cNvSpPr txBox="1"/>
          <p:nvPr/>
        </p:nvSpPr>
        <p:spPr>
          <a:xfrm>
            <a:off x="4572000" y="1920240"/>
            <a:ext cx="34747200" cy="548640"/>
          </a:xfrm>
          <a:prstGeom prst="rect">
            <a:avLst/>
          </a:prstGeom>
          <a:noFill/>
        </p:spPr>
        <p:txBody>
          <a:bodyPr wrap="square"/>
          <a:lstStyle/>
          <a:p>
            <a:pPr algn="ctr"/>
            <a:r>
              <a:rPr sz="2200" b="0" i="1">
                <a:solidFill>
                  <a:srgbClr val="BBBBBB"/>
                </a:solidFill>
                <a:latin typeface="Arial"/>
              </a:rPr>
              <a:t>A Web-Based Decision-Support Platform for Vehicle and Grid Emission Prediction Under Rising EV Adoption</a:t>
            </a:r>
          </a:p>
        </p:txBody>
      </p:sp>
      <p:sp>
        <p:nvSpPr>
          <p:cNvPr id="7" name="Rectangle 6"/>
          <p:cNvSpPr/>
          <p:nvPr/>
        </p:nvSpPr>
        <p:spPr>
          <a:xfrm>
            <a:off x="0" y="30175200"/>
            <a:ext cx="43891200" cy="2743200"/>
          </a:xfrm>
          <a:prstGeom prst="rect">
            <a:avLst/>
          </a:prstGeom>
          <a:solidFill>
            <a:srgbClr val="002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su-logo.png"/>
          <p:cNvPicPr>
            <a:picLocks noChangeAspect="1"/>
          </p:cNvPicPr>
          <p:nvPr/>
        </p:nvPicPr>
        <p:blipFill>
          <a:blip r:embed="rId2"/>
          <a:stretch>
            <a:fillRect/>
          </a:stretch>
        </p:blipFill>
        <p:spPr>
          <a:xfrm>
            <a:off x="457200" y="30449519"/>
            <a:ext cx="2286000" cy="1259237"/>
          </a:xfrm>
          <a:prstGeom prst="rect">
            <a:avLst/>
          </a:prstGeom>
        </p:spPr>
      </p:pic>
      <p:sp>
        <p:nvSpPr>
          <p:cNvPr id="9" name="TextBox 8"/>
          <p:cNvSpPr txBox="1"/>
          <p:nvPr/>
        </p:nvSpPr>
        <p:spPr>
          <a:xfrm>
            <a:off x="3657600" y="30449519"/>
            <a:ext cx="27432000" cy="1645920"/>
          </a:xfrm>
          <a:prstGeom prst="rect">
            <a:avLst/>
          </a:prstGeom>
          <a:noFill/>
        </p:spPr>
        <p:txBody>
          <a:bodyPr wrap="square"/>
          <a:lstStyle/>
          <a:p>
            <a:pPr algn="l"/>
            <a:r>
              <a:rPr sz="2600" b="1">
                <a:solidFill>
                  <a:srgbClr val="FFFFFF"/>
                </a:solidFill>
                <a:latin typeface="Arial"/>
              </a:rPr>
              <a:t>Authors: </a:t>
            </a:r>
            <a:r>
              <a:rPr sz="2600" b="0">
                <a:solidFill>
                  <a:srgbClr val="DDDDDD"/>
                </a:solidFill>
                <a:latin typeface="Arial"/>
              </a:rPr>
              <a:t>An Pham, Swetha Kakaraparthi, S M Tanvir Faysal Alam Chowdhoury</a:t>
            </a:r>
          </a:p>
          <a:p>
            <a:pPr algn="l"/>
            <a:r>
              <a:rPr sz="2600" b="1">
                <a:solidFill>
                  <a:srgbClr val="FFFFFF"/>
                </a:solidFill>
                <a:latin typeface="Arial"/>
              </a:rPr>
              <a:t>Advisors: </a:t>
            </a:r>
            <a:r>
              <a:rPr sz="2600" b="0">
                <a:solidFill>
                  <a:srgbClr val="DDDDDD"/>
                </a:solidFill>
                <a:latin typeface="Arial"/>
              </a:rPr>
              <a:t>Dr. Mahyar Amirgholy, Dr. Chenyu Wang</a:t>
            </a:r>
          </a:p>
          <a:p>
            <a:pPr algn="l"/>
            <a:r>
              <a:rPr sz="2200">
                <a:solidFill>
                  <a:srgbClr val="FDBB30"/>
                </a:solidFill>
                <a:latin typeface="Arial"/>
              </a:rPr>
              <a:t>Kennesaw State University  |  Department of Civil Engineering  |  Futra Lab</a:t>
            </a:r>
          </a:p>
        </p:txBody>
      </p:sp>
      <p:sp>
        <p:nvSpPr>
          <p:cNvPr id="10" name="TextBox 9"/>
          <p:cNvSpPr txBox="1"/>
          <p:nvPr/>
        </p:nvSpPr>
        <p:spPr>
          <a:xfrm>
            <a:off x="34747200" y="30632400"/>
            <a:ext cx="8229600" cy="1097280"/>
          </a:xfrm>
          <a:prstGeom prst="rect">
            <a:avLst/>
          </a:prstGeom>
          <a:noFill/>
        </p:spPr>
        <p:txBody>
          <a:bodyPr wrap="square"/>
          <a:lstStyle/>
          <a:p>
            <a:pPr algn="r"/>
            <a:r>
              <a:rPr sz="2600" b="1" i="0">
                <a:solidFill>
                  <a:srgbClr val="FDBB30"/>
                </a:solidFill>
                <a:latin typeface="Arial"/>
              </a:rPr>
              <a:t>Futra Lab</a:t>
            </a:r>
          </a:p>
          <a:p>
            <a:pPr algn="r"/>
            <a:r>
              <a:rPr sz="2600" b="1" i="0">
                <a:solidFill>
                  <a:srgbClr val="FDBB30"/>
                </a:solidFill>
                <a:latin typeface="Arial"/>
              </a:rPr>
              <a:t>Kennesaw State University</a:t>
            </a:r>
          </a:p>
        </p:txBody>
      </p:sp>
      <p:sp>
        <p:nvSpPr>
          <p:cNvPr id="11" name="Rounded Rectangle 10"/>
          <p:cNvSpPr/>
          <p:nvPr/>
        </p:nvSpPr>
        <p:spPr>
          <a:xfrm>
            <a:off x="457200" y="3017520"/>
            <a:ext cx="13944600" cy="594360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154679"/>
            <a:ext cx="4572000" cy="640080"/>
          </a:xfrm>
          <a:prstGeom prst="rect">
            <a:avLst/>
          </a:prstGeom>
          <a:noFill/>
        </p:spPr>
        <p:txBody>
          <a:bodyPr wrap="square"/>
          <a:lstStyle/>
          <a:p>
            <a:pPr algn="l"/>
            <a:r>
              <a:rPr sz="4200" b="1" i="0">
                <a:solidFill>
                  <a:srgbClr val="013766"/>
                </a:solidFill>
                <a:latin typeface="Arial"/>
              </a:rPr>
              <a:t>Abstract</a:t>
            </a:r>
          </a:p>
        </p:txBody>
      </p:sp>
      <p:sp>
        <p:nvSpPr>
          <p:cNvPr id="13" name="TextBox 12"/>
          <p:cNvSpPr txBox="1"/>
          <p:nvPr/>
        </p:nvSpPr>
        <p:spPr>
          <a:xfrm>
            <a:off x="731520" y="3840480"/>
            <a:ext cx="13395960" cy="4846320"/>
          </a:xfrm>
          <a:prstGeom prst="rect">
            <a:avLst/>
          </a:prstGeom>
          <a:noFill/>
        </p:spPr>
        <p:txBody>
          <a:bodyPr wrap="square"/>
          <a:lstStyle/>
          <a:p>
            <a:pPr algn="l"/>
            <a:r>
              <a:rPr sz="2400" b="0" i="0">
                <a:solidFill>
                  <a:srgbClr val="222222"/>
                </a:solidFill>
                <a:latin typeface="Arial"/>
              </a:rPr>
              <a:t>NEEMAT is a web-based decision-support tool that predicts vehicle and power-plant emissions plus fuel/energy consumption under rising EV adoption for Atlanta, Los Angeles, New York, and Seattle. A feedforward neural network trained on EPA MOVES 4.0 estimates tract-level vehicle energy use and CO₂/NOx/PM2.5 by speed, vehicle type, fuel, and age, while a macroscopic traffic model (Modified MFD) captures flow effects. Grid-side CO₂/CH₄/N₂O from EV charging are forecast with a Meta-Prophet model trained on NREL Cambium data. Users upload city-specific fleet and traffic data, select future years (2025–2030), and interactively compare scenarios across six grid pathways. The platform outputs daily and annual emission profiles with interactive charts, census tract maps, and CSV exports.</a:t>
            </a:r>
          </a:p>
        </p:txBody>
      </p:sp>
      <p:sp>
        <p:nvSpPr>
          <p:cNvPr id="14" name="Rounded Rectangle 13"/>
          <p:cNvSpPr/>
          <p:nvPr/>
        </p:nvSpPr>
        <p:spPr>
          <a:xfrm>
            <a:off x="457200" y="9144000"/>
            <a:ext cx="13944600" cy="320040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9281160"/>
            <a:ext cx="9144000" cy="640080"/>
          </a:xfrm>
          <a:prstGeom prst="rect">
            <a:avLst/>
          </a:prstGeom>
          <a:noFill/>
        </p:spPr>
        <p:txBody>
          <a:bodyPr wrap="square"/>
          <a:lstStyle/>
          <a:p>
            <a:pPr algn="l"/>
            <a:r>
              <a:rPr sz="4200" b="1" i="0">
                <a:solidFill>
                  <a:srgbClr val="013766"/>
                </a:solidFill>
                <a:latin typeface="Arial"/>
              </a:rPr>
              <a:t>System Architecture</a:t>
            </a:r>
          </a:p>
        </p:txBody>
      </p:sp>
      <p:pic>
        <p:nvPicPr>
          <p:cNvPr id="16" name="Picture 15" descr="img_1.png"/>
          <p:cNvPicPr>
            <a:picLocks noChangeAspect="1"/>
          </p:cNvPicPr>
          <p:nvPr/>
        </p:nvPicPr>
        <p:blipFill>
          <a:blip r:embed="rId3"/>
          <a:stretch>
            <a:fillRect/>
          </a:stretch>
        </p:blipFill>
        <p:spPr>
          <a:xfrm>
            <a:off x="914400" y="9966960"/>
            <a:ext cx="3657600" cy="1936739"/>
          </a:xfrm>
          <a:prstGeom prst="rect">
            <a:avLst/>
          </a:prstGeom>
        </p:spPr>
      </p:pic>
      <p:sp>
        <p:nvSpPr>
          <p:cNvPr id="17" name="Rounded Rectangle 16"/>
          <p:cNvSpPr/>
          <p:nvPr/>
        </p:nvSpPr>
        <p:spPr>
          <a:xfrm>
            <a:off x="5486400" y="9966960"/>
            <a:ext cx="8503920" cy="502920"/>
          </a:xfrm>
          <a:prstGeom prst="roundRect">
            <a:avLst/>
          </a:prstGeom>
          <a:solidFill>
            <a:srgbClr val="E8F0FE"/>
          </a:solidFill>
          <a:ln w="190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0" y="9985248"/>
            <a:ext cx="8321040" cy="457200"/>
          </a:xfrm>
          <a:prstGeom prst="rect">
            <a:avLst/>
          </a:prstGeom>
          <a:noFill/>
        </p:spPr>
        <p:txBody>
          <a:bodyPr wrap="square"/>
          <a:lstStyle/>
          <a:p>
            <a:r>
              <a:rPr sz="1800" b="1">
                <a:solidFill>
                  <a:srgbClr val="013766"/>
                </a:solidFill>
                <a:latin typeface="Arial"/>
              </a:rPr>
              <a:t>Web UI &amp; User: </a:t>
            </a:r>
            <a:r>
              <a:rPr sz="1600">
                <a:solidFill>
                  <a:srgbClr val="222222"/>
                </a:solidFill>
                <a:latin typeface="Arial"/>
              </a:rPr>
              <a:t>City . Year . Vehicle . Fuel . Scenario</a:t>
            </a:r>
          </a:p>
        </p:txBody>
      </p:sp>
      <p:sp>
        <p:nvSpPr>
          <p:cNvPr id="19" name="Rounded Rectangle 18"/>
          <p:cNvSpPr/>
          <p:nvPr/>
        </p:nvSpPr>
        <p:spPr>
          <a:xfrm>
            <a:off x="5486400" y="10533888"/>
            <a:ext cx="8503920" cy="502920"/>
          </a:xfrm>
          <a:prstGeom prst="roundRect">
            <a:avLst/>
          </a:prstGeom>
          <a:solidFill>
            <a:srgbClr val="E8F0FE"/>
          </a:solidFill>
          <a:ln w="190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77840" y="10552176"/>
            <a:ext cx="8321040" cy="457200"/>
          </a:xfrm>
          <a:prstGeom prst="rect">
            <a:avLst/>
          </a:prstGeom>
          <a:noFill/>
        </p:spPr>
        <p:txBody>
          <a:bodyPr wrap="square"/>
          <a:lstStyle/>
          <a:p>
            <a:r>
              <a:rPr sz="1800" b="1">
                <a:solidFill>
                  <a:srgbClr val="013766"/>
                </a:solidFill>
                <a:latin typeface="Arial"/>
              </a:rPr>
              <a:t>Views: </a:t>
            </a:r>
            <a:r>
              <a:rPr sz="1600">
                <a:solidFill>
                  <a:srgbClr val="222222"/>
                </a:solidFill>
                <a:latin typeface="Arial"/>
              </a:rPr>
              <a:t>Map (Census Tracts) . Tables . Graphs</a:t>
            </a:r>
          </a:p>
        </p:txBody>
      </p:sp>
      <p:sp>
        <p:nvSpPr>
          <p:cNvPr id="21" name="Rounded Rectangle 20"/>
          <p:cNvSpPr/>
          <p:nvPr/>
        </p:nvSpPr>
        <p:spPr>
          <a:xfrm>
            <a:off x="5486400" y="11100816"/>
            <a:ext cx="8503920" cy="502920"/>
          </a:xfrm>
          <a:prstGeom prst="roundRect">
            <a:avLst/>
          </a:prstGeom>
          <a:solidFill>
            <a:srgbClr val="E8F0FE"/>
          </a:solidFill>
          <a:ln w="190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0" y="11119104"/>
            <a:ext cx="8321040" cy="457200"/>
          </a:xfrm>
          <a:prstGeom prst="rect">
            <a:avLst/>
          </a:prstGeom>
          <a:noFill/>
        </p:spPr>
        <p:txBody>
          <a:bodyPr wrap="square"/>
          <a:lstStyle/>
          <a:p>
            <a:r>
              <a:rPr sz="1800" b="1">
                <a:solidFill>
                  <a:srgbClr val="013766"/>
                </a:solidFill>
                <a:latin typeface="Arial"/>
              </a:rPr>
              <a:t>Forecast Horizons: </a:t>
            </a:r>
            <a:r>
              <a:rPr sz="1600">
                <a:solidFill>
                  <a:srgbClr val="222222"/>
                </a:solidFill>
                <a:latin typeface="Arial"/>
              </a:rPr>
              <a:t>24-hour Profiles . Multi-year Outlook</a:t>
            </a:r>
          </a:p>
        </p:txBody>
      </p:sp>
      <p:sp>
        <p:nvSpPr>
          <p:cNvPr id="23" name="Rounded Rectangle 22"/>
          <p:cNvSpPr/>
          <p:nvPr/>
        </p:nvSpPr>
        <p:spPr>
          <a:xfrm>
            <a:off x="5486400" y="11667744"/>
            <a:ext cx="8503920" cy="502920"/>
          </a:xfrm>
          <a:prstGeom prst="roundRect">
            <a:avLst/>
          </a:prstGeom>
          <a:solidFill>
            <a:srgbClr val="E8F0FE"/>
          </a:solidFill>
          <a:ln w="19050">
            <a:solidFill>
              <a:srgbClr val="1A7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77840" y="11686032"/>
            <a:ext cx="8321040" cy="457200"/>
          </a:xfrm>
          <a:prstGeom prst="rect">
            <a:avLst/>
          </a:prstGeom>
          <a:noFill/>
        </p:spPr>
        <p:txBody>
          <a:bodyPr wrap="square"/>
          <a:lstStyle/>
          <a:p>
            <a:r>
              <a:rPr sz="1800" b="1">
                <a:solidFill>
                  <a:srgbClr val="013766"/>
                </a:solidFill>
                <a:latin typeface="Arial"/>
              </a:rPr>
              <a:t>Actions: </a:t>
            </a:r>
            <a:r>
              <a:rPr sz="1600">
                <a:solidFill>
                  <a:srgbClr val="222222"/>
                </a:solidFill>
                <a:latin typeface="Arial"/>
              </a:rPr>
              <a:t>Compare Scenarios . Export Results (CSV)</a:t>
            </a:r>
          </a:p>
        </p:txBody>
      </p:sp>
      <p:sp>
        <p:nvSpPr>
          <p:cNvPr id="25" name="Rounded Rectangle 24"/>
          <p:cNvSpPr/>
          <p:nvPr/>
        </p:nvSpPr>
        <p:spPr>
          <a:xfrm>
            <a:off x="457200" y="12527280"/>
            <a:ext cx="13944600" cy="640080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12664440"/>
            <a:ext cx="12801600" cy="640080"/>
          </a:xfrm>
          <a:prstGeom prst="rect">
            <a:avLst/>
          </a:prstGeom>
          <a:noFill/>
        </p:spPr>
        <p:txBody>
          <a:bodyPr wrap="square"/>
          <a:lstStyle/>
          <a:p>
            <a:pPr algn="l"/>
            <a:r>
              <a:rPr sz="4000" b="1" i="0">
                <a:solidFill>
                  <a:srgbClr val="013766"/>
                </a:solidFill>
                <a:latin typeface="Arial"/>
              </a:rPr>
              <a:t>Feedforward Neural Network Model</a:t>
            </a:r>
          </a:p>
        </p:txBody>
      </p:sp>
      <p:pic>
        <p:nvPicPr>
          <p:cNvPr id="27" name="Picture 26" descr="img_6.png"/>
          <p:cNvPicPr>
            <a:picLocks noChangeAspect="1"/>
          </p:cNvPicPr>
          <p:nvPr/>
        </p:nvPicPr>
        <p:blipFill>
          <a:blip r:embed="rId4"/>
          <a:stretch>
            <a:fillRect/>
          </a:stretch>
        </p:blipFill>
        <p:spPr>
          <a:xfrm>
            <a:off x="731520" y="13350240"/>
            <a:ext cx="13258800" cy="5054254"/>
          </a:xfrm>
          <a:prstGeom prst="rect">
            <a:avLst/>
          </a:prstGeom>
        </p:spPr>
      </p:pic>
      <p:sp>
        <p:nvSpPr>
          <p:cNvPr id="28" name="TextBox 27"/>
          <p:cNvSpPr txBox="1"/>
          <p:nvPr/>
        </p:nvSpPr>
        <p:spPr>
          <a:xfrm>
            <a:off x="731520" y="16824960"/>
            <a:ext cx="13395960" cy="1828800"/>
          </a:xfrm>
          <a:prstGeom prst="rect">
            <a:avLst/>
          </a:prstGeom>
          <a:noFill/>
        </p:spPr>
        <p:txBody>
          <a:bodyPr wrap="square"/>
          <a:lstStyle/>
          <a:p>
            <a:pPr algn="l"/>
            <a:r>
              <a:rPr sz="2000" b="0" i="0">
                <a:solidFill>
                  <a:srgbClr val="222222"/>
                </a:solidFill>
                <a:latin typeface="Arial"/>
              </a:rPr>
              <a:t>Architecture: FC(512) → ReLU → FC(256) → ReLU → FC(128) → ReLU → FC(64) → ReLU → FC(1)</a:t>
            </a:r>
          </a:p>
          <a:p>
            <a:pPr algn="l"/>
            <a:r>
              <a:rPr sz="2000" b="0" i="0">
                <a:solidFill>
                  <a:srgbClr val="222222"/>
                </a:solidFill>
                <a:latin typeface="Arial"/>
              </a:rPr>
              <a:t>Inputs: Vehicle Type (13 one-hot) + Fuel Type (5 one-hot) + Age + Speed = 20 features</a:t>
            </a:r>
          </a:p>
          <a:p>
            <a:pPr algn="l"/>
            <a:r>
              <a:rPr sz="2000" b="0" i="0">
                <a:solidFill>
                  <a:srgbClr val="222222"/>
                </a:solidFill>
                <a:latin typeface="Arial"/>
              </a:rPr>
              <a:t>Outputs: CO₂, NOx, PM2.5 (Brake/Tire), Fuel/Energy rate per vehicle class</a:t>
            </a:r>
          </a:p>
          <a:p>
            <a:pPr algn="l"/>
            <a:r>
              <a:rPr sz="2000" b="0" i="0">
                <a:solidFill>
                  <a:srgbClr val="222222"/>
                </a:solidFill>
                <a:latin typeface="Arial"/>
              </a:rPr>
              <a:t>Training: EPA MOVES 4.0 inventory; 20 PyTorch models (5 per state: GA, CA, NY, WA)</a:t>
            </a:r>
          </a:p>
        </p:txBody>
      </p:sp>
      <p:sp>
        <p:nvSpPr>
          <p:cNvPr id="29" name="Rounded Rectangle 28"/>
          <p:cNvSpPr/>
          <p:nvPr/>
        </p:nvSpPr>
        <p:spPr>
          <a:xfrm>
            <a:off x="457200" y="19110960"/>
            <a:ext cx="13944600" cy="576072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19248119"/>
            <a:ext cx="12801600" cy="640080"/>
          </a:xfrm>
          <a:prstGeom prst="rect">
            <a:avLst/>
          </a:prstGeom>
          <a:noFill/>
        </p:spPr>
        <p:txBody>
          <a:bodyPr wrap="square"/>
          <a:lstStyle/>
          <a:p>
            <a:pPr algn="l"/>
            <a:r>
              <a:rPr sz="4000" b="1" i="0">
                <a:solidFill>
                  <a:srgbClr val="013766"/>
                </a:solidFill>
                <a:latin typeface="Arial"/>
              </a:rPr>
              <a:t>NN Validation: MOVES vs. Estimated</a:t>
            </a:r>
          </a:p>
        </p:txBody>
      </p:sp>
      <p:pic>
        <p:nvPicPr>
          <p:cNvPr id="31" name="Picture 30" descr="2_a_2.jpg"/>
          <p:cNvPicPr>
            <a:picLocks noChangeAspect="1"/>
          </p:cNvPicPr>
          <p:nvPr/>
        </p:nvPicPr>
        <p:blipFill>
          <a:blip r:embed="rId5"/>
          <a:stretch>
            <a:fillRect/>
          </a:stretch>
        </p:blipFill>
        <p:spPr>
          <a:xfrm>
            <a:off x="731520" y="20025360"/>
            <a:ext cx="3200400" cy="3200400"/>
          </a:xfrm>
          <a:prstGeom prst="rect">
            <a:avLst/>
          </a:prstGeom>
        </p:spPr>
      </p:pic>
      <p:sp>
        <p:nvSpPr>
          <p:cNvPr id="32" name="TextBox 31"/>
          <p:cNvSpPr txBox="1"/>
          <p:nvPr/>
        </p:nvSpPr>
        <p:spPr>
          <a:xfrm>
            <a:off x="731520" y="23317200"/>
            <a:ext cx="3200400" cy="365760"/>
          </a:xfrm>
          <a:prstGeom prst="rect">
            <a:avLst/>
          </a:prstGeom>
          <a:noFill/>
        </p:spPr>
        <p:txBody>
          <a:bodyPr wrap="square"/>
          <a:lstStyle/>
          <a:p>
            <a:pPr algn="ctr"/>
            <a:r>
              <a:rPr sz="1600" b="1" i="0">
                <a:solidFill>
                  <a:srgbClr val="013766"/>
                </a:solidFill>
                <a:latin typeface="Arial"/>
              </a:rPr>
              <a:t>CO₂ Rate (g/mi)</a:t>
            </a:r>
          </a:p>
        </p:txBody>
      </p:sp>
      <p:pic>
        <p:nvPicPr>
          <p:cNvPr id="33" name="Picture 32" descr="2_b_1.jpg"/>
          <p:cNvPicPr>
            <a:picLocks noChangeAspect="1"/>
          </p:cNvPicPr>
          <p:nvPr/>
        </p:nvPicPr>
        <p:blipFill>
          <a:blip r:embed="rId6"/>
          <a:stretch>
            <a:fillRect/>
          </a:stretch>
        </p:blipFill>
        <p:spPr>
          <a:xfrm>
            <a:off x="4114800" y="20025360"/>
            <a:ext cx="3200400" cy="2971800"/>
          </a:xfrm>
          <a:prstGeom prst="rect">
            <a:avLst/>
          </a:prstGeom>
        </p:spPr>
      </p:pic>
      <p:sp>
        <p:nvSpPr>
          <p:cNvPr id="34" name="TextBox 33"/>
          <p:cNvSpPr txBox="1"/>
          <p:nvPr/>
        </p:nvSpPr>
        <p:spPr>
          <a:xfrm>
            <a:off x="4114800" y="23317200"/>
            <a:ext cx="3200400" cy="365760"/>
          </a:xfrm>
          <a:prstGeom prst="rect">
            <a:avLst/>
          </a:prstGeom>
          <a:noFill/>
        </p:spPr>
        <p:txBody>
          <a:bodyPr wrap="square"/>
          <a:lstStyle/>
          <a:p>
            <a:pPr algn="ctr"/>
            <a:r>
              <a:rPr sz="1600" b="1" i="0">
                <a:solidFill>
                  <a:srgbClr val="013766"/>
                </a:solidFill>
                <a:latin typeface="Arial"/>
              </a:rPr>
              <a:t>Fuel/Elec. (MWh/mi)</a:t>
            </a:r>
          </a:p>
        </p:txBody>
      </p:sp>
      <p:pic>
        <p:nvPicPr>
          <p:cNvPr id="35" name="Picture 34" descr="2_c_1.jpg"/>
          <p:cNvPicPr>
            <a:picLocks noChangeAspect="1"/>
          </p:cNvPicPr>
          <p:nvPr/>
        </p:nvPicPr>
        <p:blipFill>
          <a:blip r:embed="rId7"/>
          <a:stretch>
            <a:fillRect/>
          </a:stretch>
        </p:blipFill>
        <p:spPr>
          <a:xfrm>
            <a:off x="7498080" y="20025360"/>
            <a:ext cx="3200400" cy="2971800"/>
          </a:xfrm>
          <a:prstGeom prst="rect">
            <a:avLst/>
          </a:prstGeom>
        </p:spPr>
      </p:pic>
      <p:sp>
        <p:nvSpPr>
          <p:cNvPr id="36" name="TextBox 35"/>
          <p:cNvSpPr txBox="1"/>
          <p:nvPr/>
        </p:nvSpPr>
        <p:spPr>
          <a:xfrm>
            <a:off x="7498080" y="23317200"/>
            <a:ext cx="3200400" cy="365760"/>
          </a:xfrm>
          <a:prstGeom prst="rect">
            <a:avLst/>
          </a:prstGeom>
          <a:noFill/>
        </p:spPr>
        <p:txBody>
          <a:bodyPr wrap="square"/>
          <a:lstStyle/>
          <a:p>
            <a:pPr algn="ctr"/>
            <a:r>
              <a:rPr sz="1600" b="1" i="0">
                <a:solidFill>
                  <a:srgbClr val="013766"/>
                </a:solidFill>
                <a:latin typeface="Arial"/>
              </a:rPr>
              <a:t>NOx Rate (g/mi)</a:t>
            </a:r>
          </a:p>
        </p:txBody>
      </p:sp>
      <p:pic>
        <p:nvPicPr>
          <p:cNvPr id="37" name="Picture 36" descr="2_d_1.jpg"/>
          <p:cNvPicPr>
            <a:picLocks noChangeAspect="1"/>
          </p:cNvPicPr>
          <p:nvPr/>
        </p:nvPicPr>
        <p:blipFill>
          <a:blip r:embed="rId8"/>
          <a:stretch>
            <a:fillRect/>
          </a:stretch>
        </p:blipFill>
        <p:spPr>
          <a:xfrm>
            <a:off x="10881360" y="20025360"/>
            <a:ext cx="3200400" cy="2971800"/>
          </a:xfrm>
          <a:prstGeom prst="rect">
            <a:avLst/>
          </a:prstGeom>
        </p:spPr>
      </p:pic>
      <p:sp>
        <p:nvSpPr>
          <p:cNvPr id="38" name="TextBox 37"/>
          <p:cNvSpPr txBox="1"/>
          <p:nvPr/>
        </p:nvSpPr>
        <p:spPr>
          <a:xfrm>
            <a:off x="10881360" y="23317200"/>
            <a:ext cx="3200400" cy="365760"/>
          </a:xfrm>
          <a:prstGeom prst="rect">
            <a:avLst/>
          </a:prstGeom>
          <a:noFill/>
        </p:spPr>
        <p:txBody>
          <a:bodyPr wrap="square"/>
          <a:lstStyle/>
          <a:p>
            <a:pPr algn="ctr"/>
            <a:r>
              <a:rPr sz="1600" b="1" i="0">
                <a:solidFill>
                  <a:srgbClr val="013766"/>
                </a:solidFill>
                <a:latin typeface="Arial"/>
              </a:rPr>
              <a:t>PM2.5 Rate (g/mi)</a:t>
            </a:r>
          </a:p>
        </p:txBody>
      </p:sp>
      <p:pic>
        <p:nvPicPr>
          <p:cNvPr id="39" name="Picture 38" descr="2_legend.jpg"/>
          <p:cNvPicPr>
            <a:picLocks noChangeAspect="1"/>
          </p:cNvPicPr>
          <p:nvPr/>
        </p:nvPicPr>
        <p:blipFill>
          <a:blip r:embed="rId9"/>
          <a:stretch>
            <a:fillRect/>
          </a:stretch>
        </p:blipFill>
        <p:spPr>
          <a:xfrm>
            <a:off x="731520" y="23865839"/>
            <a:ext cx="13258800" cy="1645472"/>
          </a:xfrm>
          <a:prstGeom prst="rect">
            <a:avLst/>
          </a:prstGeom>
        </p:spPr>
      </p:pic>
      <p:sp>
        <p:nvSpPr>
          <p:cNvPr id="40" name="Rounded Rectangle 39"/>
          <p:cNvSpPr/>
          <p:nvPr/>
        </p:nvSpPr>
        <p:spPr>
          <a:xfrm>
            <a:off x="457200" y="25054560"/>
            <a:ext cx="13944600" cy="237744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1520" y="25146000"/>
            <a:ext cx="9144000" cy="640080"/>
          </a:xfrm>
          <a:prstGeom prst="rect">
            <a:avLst/>
          </a:prstGeom>
          <a:noFill/>
        </p:spPr>
        <p:txBody>
          <a:bodyPr wrap="square"/>
          <a:lstStyle/>
          <a:p>
            <a:pPr algn="l"/>
            <a:r>
              <a:rPr sz="3600" b="1" i="0">
                <a:solidFill>
                  <a:srgbClr val="013766"/>
                </a:solidFill>
                <a:latin typeface="Arial"/>
              </a:rPr>
              <a:t>Technology Stack</a:t>
            </a:r>
          </a:p>
        </p:txBody>
      </p:sp>
      <p:sp>
        <p:nvSpPr>
          <p:cNvPr id="42" name="TextBox 41"/>
          <p:cNvSpPr txBox="1"/>
          <p:nvPr/>
        </p:nvSpPr>
        <p:spPr>
          <a:xfrm>
            <a:off x="822960" y="25831800"/>
            <a:ext cx="13213080" cy="365760"/>
          </a:xfrm>
          <a:prstGeom prst="rect">
            <a:avLst/>
          </a:prstGeom>
          <a:noFill/>
        </p:spPr>
        <p:txBody>
          <a:bodyPr wrap="square"/>
          <a:lstStyle/>
          <a:p>
            <a:r>
              <a:rPr sz="1800" b="1">
                <a:solidFill>
                  <a:srgbClr val="013766"/>
                </a:solidFill>
                <a:latin typeface="Arial"/>
              </a:rPr>
              <a:t>Frontend: </a:t>
            </a:r>
            <a:r>
              <a:rPr sz="1800">
                <a:solidFill>
                  <a:srgbClr val="222222"/>
                </a:solidFill>
                <a:latin typeface="Arial"/>
              </a:rPr>
              <a:t>React 19 + Vite 6 + MUI 7 + TailwindCSS 4 + Chart.js + Zustand</a:t>
            </a:r>
          </a:p>
        </p:txBody>
      </p:sp>
      <p:sp>
        <p:nvSpPr>
          <p:cNvPr id="43" name="TextBox 42"/>
          <p:cNvSpPr txBox="1"/>
          <p:nvPr/>
        </p:nvSpPr>
        <p:spPr>
          <a:xfrm>
            <a:off x="822960" y="26197560"/>
            <a:ext cx="13213080" cy="365760"/>
          </a:xfrm>
          <a:prstGeom prst="rect">
            <a:avLst/>
          </a:prstGeom>
          <a:noFill/>
        </p:spPr>
        <p:txBody>
          <a:bodyPr wrap="square"/>
          <a:lstStyle/>
          <a:p>
            <a:r>
              <a:rPr sz="1800" b="1">
                <a:solidFill>
                  <a:srgbClr val="013766"/>
                </a:solidFill>
                <a:latin typeface="Arial"/>
              </a:rPr>
              <a:t>Backend: </a:t>
            </a:r>
            <a:r>
              <a:rPr sz="1800">
                <a:solidFill>
                  <a:srgbClr val="222222"/>
                </a:solidFill>
                <a:latin typeface="Arial"/>
              </a:rPr>
              <a:t>Flask + PyTorch + NumPy/SciPy + Pandas + scikit-learn + SQLite</a:t>
            </a:r>
          </a:p>
        </p:txBody>
      </p:sp>
      <p:sp>
        <p:nvSpPr>
          <p:cNvPr id="44" name="TextBox 43"/>
          <p:cNvSpPr txBox="1"/>
          <p:nvPr/>
        </p:nvSpPr>
        <p:spPr>
          <a:xfrm>
            <a:off x="822960" y="26563320"/>
            <a:ext cx="13213080" cy="365760"/>
          </a:xfrm>
          <a:prstGeom prst="rect">
            <a:avLst/>
          </a:prstGeom>
          <a:noFill/>
        </p:spPr>
        <p:txBody>
          <a:bodyPr wrap="square"/>
          <a:lstStyle/>
          <a:p>
            <a:r>
              <a:rPr sz="1800" b="1">
                <a:solidFill>
                  <a:srgbClr val="013766"/>
                </a:solidFill>
                <a:latin typeface="Arial"/>
              </a:rPr>
              <a:t>ML Models: </a:t>
            </a:r>
            <a:r>
              <a:rPr sz="1800">
                <a:solidFill>
                  <a:srgbClr val="222222"/>
                </a:solidFill>
                <a:latin typeface="Arial"/>
              </a:rPr>
              <a:t>Modified NN (512→256→128→64→1) + Modified MFD + Meta-Prophet</a:t>
            </a:r>
          </a:p>
        </p:txBody>
      </p:sp>
      <p:sp>
        <p:nvSpPr>
          <p:cNvPr id="45" name="TextBox 44"/>
          <p:cNvSpPr txBox="1"/>
          <p:nvPr/>
        </p:nvSpPr>
        <p:spPr>
          <a:xfrm>
            <a:off x="822960" y="26929080"/>
            <a:ext cx="13213080" cy="365760"/>
          </a:xfrm>
          <a:prstGeom prst="rect">
            <a:avLst/>
          </a:prstGeom>
          <a:noFill/>
        </p:spPr>
        <p:txBody>
          <a:bodyPr wrap="square"/>
          <a:lstStyle/>
          <a:p>
            <a:r>
              <a:rPr sz="1800" b="1">
                <a:solidFill>
                  <a:srgbClr val="013766"/>
                </a:solidFill>
                <a:latin typeface="Arial"/>
              </a:rPr>
              <a:t>Deploy: </a:t>
            </a:r>
            <a:r>
              <a:rPr sz="1800">
                <a:solidFill>
                  <a:srgbClr val="222222"/>
                </a:solidFill>
                <a:latin typeface="Arial"/>
              </a:rPr>
              <a:t>Docker + Docker Compose + Nginx + AWS EC2</a:t>
            </a:r>
          </a:p>
        </p:txBody>
      </p:sp>
      <p:sp>
        <p:nvSpPr>
          <p:cNvPr id="46" name="Rounded Rectangle 45"/>
          <p:cNvSpPr/>
          <p:nvPr/>
        </p:nvSpPr>
        <p:spPr>
          <a:xfrm>
            <a:off x="457200" y="27614880"/>
            <a:ext cx="13944600" cy="237744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31520" y="27706320"/>
            <a:ext cx="12801600" cy="640080"/>
          </a:xfrm>
          <a:prstGeom prst="rect">
            <a:avLst/>
          </a:prstGeom>
          <a:noFill/>
        </p:spPr>
        <p:txBody>
          <a:bodyPr wrap="square"/>
          <a:lstStyle/>
          <a:p>
            <a:pPr algn="l"/>
            <a:r>
              <a:rPr sz="3600" b="1" i="0">
                <a:solidFill>
                  <a:srgbClr val="013766"/>
                </a:solidFill>
                <a:latin typeface="Arial"/>
              </a:rPr>
              <a:t>Interactive Analysis Workflow</a:t>
            </a:r>
          </a:p>
        </p:txBody>
      </p:sp>
      <p:sp>
        <p:nvSpPr>
          <p:cNvPr id="48" name="Rounded Rectangle 47"/>
          <p:cNvSpPr/>
          <p:nvPr/>
        </p:nvSpPr>
        <p:spPr>
          <a:xfrm>
            <a:off x="731520" y="28392120"/>
            <a:ext cx="2103120" cy="640080"/>
          </a:xfrm>
          <a:prstGeom prst="roundRect">
            <a:avLst/>
          </a:prstGeom>
          <a:solidFill>
            <a:srgbClr val="E3F2FD"/>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 y="28437839"/>
            <a:ext cx="1920240" cy="548640"/>
          </a:xfrm>
          <a:prstGeom prst="rect">
            <a:avLst/>
          </a:prstGeom>
          <a:noFill/>
        </p:spPr>
        <p:txBody>
          <a:bodyPr wrap="square"/>
          <a:lstStyle/>
          <a:p>
            <a:pPr algn="ctr"/>
            <a:r>
              <a:rPr sz="1800" b="1" i="0">
                <a:solidFill>
                  <a:srgbClr val="013766"/>
                </a:solidFill>
                <a:latin typeface="Arial"/>
              </a:rPr>
              <a:t>1. Upload Data</a:t>
            </a:r>
          </a:p>
        </p:txBody>
      </p:sp>
      <p:sp>
        <p:nvSpPr>
          <p:cNvPr id="50" name="Rounded Rectangle 49"/>
          <p:cNvSpPr/>
          <p:nvPr/>
        </p:nvSpPr>
        <p:spPr>
          <a:xfrm>
            <a:off x="3017520" y="28392120"/>
            <a:ext cx="2103120" cy="640080"/>
          </a:xfrm>
          <a:prstGeom prst="roundRect">
            <a:avLst/>
          </a:prstGeom>
          <a:solidFill>
            <a:srgbClr val="E8F5E9"/>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108960" y="28437839"/>
            <a:ext cx="1920240" cy="548640"/>
          </a:xfrm>
          <a:prstGeom prst="rect">
            <a:avLst/>
          </a:prstGeom>
          <a:noFill/>
        </p:spPr>
        <p:txBody>
          <a:bodyPr wrap="square"/>
          <a:lstStyle/>
          <a:p>
            <a:pPr algn="ctr"/>
            <a:r>
              <a:rPr sz="1800" b="1" i="0">
                <a:solidFill>
                  <a:srgbClr val="013766"/>
                </a:solidFill>
                <a:latin typeface="Arial"/>
              </a:rPr>
              <a:t>2. Select Filters</a:t>
            </a:r>
          </a:p>
        </p:txBody>
      </p:sp>
      <p:sp>
        <p:nvSpPr>
          <p:cNvPr id="52" name="Rounded Rectangle 51"/>
          <p:cNvSpPr/>
          <p:nvPr/>
        </p:nvSpPr>
        <p:spPr>
          <a:xfrm>
            <a:off x="5303520" y="28392120"/>
            <a:ext cx="2103120" cy="640080"/>
          </a:xfrm>
          <a:prstGeom prst="roundRect">
            <a:avLst/>
          </a:prstGeom>
          <a:solidFill>
            <a:srgbClr val="FFF3E0"/>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394959" y="28437839"/>
            <a:ext cx="1920240" cy="548640"/>
          </a:xfrm>
          <a:prstGeom prst="rect">
            <a:avLst/>
          </a:prstGeom>
          <a:noFill/>
        </p:spPr>
        <p:txBody>
          <a:bodyPr wrap="square"/>
          <a:lstStyle/>
          <a:p>
            <a:pPr algn="ctr"/>
            <a:r>
              <a:rPr sz="1800" b="1" i="0">
                <a:solidFill>
                  <a:srgbClr val="013766"/>
                </a:solidFill>
                <a:latin typeface="Arial"/>
              </a:rPr>
              <a:t>3. Run Prediction</a:t>
            </a:r>
          </a:p>
        </p:txBody>
      </p:sp>
      <p:sp>
        <p:nvSpPr>
          <p:cNvPr id="54" name="Rounded Rectangle 53"/>
          <p:cNvSpPr/>
          <p:nvPr/>
        </p:nvSpPr>
        <p:spPr>
          <a:xfrm>
            <a:off x="7589520" y="28392120"/>
            <a:ext cx="2103120" cy="640080"/>
          </a:xfrm>
          <a:prstGeom prst="roundRect">
            <a:avLst/>
          </a:prstGeom>
          <a:solidFill>
            <a:srgbClr val="FCE4EC"/>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680960" y="28437839"/>
            <a:ext cx="1920240" cy="548640"/>
          </a:xfrm>
          <a:prstGeom prst="rect">
            <a:avLst/>
          </a:prstGeom>
          <a:noFill/>
        </p:spPr>
        <p:txBody>
          <a:bodyPr wrap="square"/>
          <a:lstStyle/>
          <a:p>
            <a:pPr algn="ctr"/>
            <a:r>
              <a:rPr sz="1800" b="1" i="0">
                <a:solidFill>
                  <a:srgbClr val="013766"/>
                </a:solidFill>
                <a:latin typeface="Arial"/>
              </a:rPr>
              <a:t>4. View Charts</a:t>
            </a:r>
          </a:p>
        </p:txBody>
      </p:sp>
      <p:sp>
        <p:nvSpPr>
          <p:cNvPr id="56" name="Rounded Rectangle 55"/>
          <p:cNvSpPr/>
          <p:nvPr/>
        </p:nvSpPr>
        <p:spPr>
          <a:xfrm>
            <a:off x="9875520" y="28392120"/>
            <a:ext cx="2103120" cy="640080"/>
          </a:xfrm>
          <a:prstGeom prst="roundRect">
            <a:avLst/>
          </a:prstGeom>
          <a:solidFill>
            <a:srgbClr val="E8EAF6"/>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966960" y="28437839"/>
            <a:ext cx="1920240" cy="548640"/>
          </a:xfrm>
          <a:prstGeom prst="rect">
            <a:avLst/>
          </a:prstGeom>
          <a:noFill/>
        </p:spPr>
        <p:txBody>
          <a:bodyPr wrap="square"/>
          <a:lstStyle/>
          <a:p>
            <a:pPr algn="ctr"/>
            <a:r>
              <a:rPr sz="1800" b="1" i="0">
                <a:solidFill>
                  <a:srgbClr val="013766"/>
                </a:solidFill>
                <a:latin typeface="Arial"/>
              </a:rPr>
              <a:t>5. Compare</a:t>
            </a:r>
          </a:p>
        </p:txBody>
      </p:sp>
      <p:sp>
        <p:nvSpPr>
          <p:cNvPr id="58" name="Rounded Rectangle 57"/>
          <p:cNvSpPr/>
          <p:nvPr/>
        </p:nvSpPr>
        <p:spPr>
          <a:xfrm>
            <a:off x="12161520" y="28392120"/>
            <a:ext cx="2103120" cy="640080"/>
          </a:xfrm>
          <a:prstGeom prst="roundRect">
            <a:avLst/>
          </a:prstGeom>
          <a:solidFill>
            <a:srgbClr val="E0F7FA"/>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2252960" y="28437839"/>
            <a:ext cx="1920240" cy="548640"/>
          </a:xfrm>
          <a:prstGeom prst="rect">
            <a:avLst/>
          </a:prstGeom>
          <a:noFill/>
        </p:spPr>
        <p:txBody>
          <a:bodyPr wrap="square"/>
          <a:lstStyle/>
          <a:p>
            <a:pPr algn="ctr"/>
            <a:r>
              <a:rPr sz="1800" b="1" i="0">
                <a:solidFill>
                  <a:srgbClr val="013766"/>
                </a:solidFill>
                <a:latin typeface="Arial"/>
              </a:rPr>
              <a:t>6. Export CSV</a:t>
            </a:r>
          </a:p>
        </p:txBody>
      </p:sp>
      <p:sp>
        <p:nvSpPr>
          <p:cNvPr id="60" name="TextBox 59"/>
          <p:cNvSpPr txBox="1"/>
          <p:nvPr/>
        </p:nvSpPr>
        <p:spPr>
          <a:xfrm>
            <a:off x="2834639" y="28437839"/>
            <a:ext cx="182880" cy="548640"/>
          </a:xfrm>
          <a:prstGeom prst="rect">
            <a:avLst/>
          </a:prstGeom>
          <a:noFill/>
        </p:spPr>
        <p:txBody>
          <a:bodyPr wrap="square"/>
          <a:lstStyle/>
          <a:p>
            <a:pPr algn="ctr"/>
            <a:r>
              <a:rPr sz="2400" b="1" i="0">
                <a:solidFill>
                  <a:srgbClr val="013766"/>
                </a:solidFill>
                <a:latin typeface="Arial"/>
              </a:rPr>
              <a:t>→</a:t>
            </a:r>
          </a:p>
        </p:txBody>
      </p:sp>
      <p:sp>
        <p:nvSpPr>
          <p:cNvPr id="61" name="TextBox 60"/>
          <p:cNvSpPr txBox="1"/>
          <p:nvPr/>
        </p:nvSpPr>
        <p:spPr>
          <a:xfrm>
            <a:off x="5120640" y="28437839"/>
            <a:ext cx="182880" cy="548640"/>
          </a:xfrm>
          <a:prstGeom prst="rect">
            <a:avLst/>
          </a:prstGeom>
          <a:noFill/>
        </p:spPr>
        <p:txBody>
          <a:bodyPr wrap="square"/>
          <a:lstStyle/>
          <a:p>
            <a:pPr algn="ctr"/>
            <a:r>
              <a:rPr sz="2400" b="1" i="0">
                <a:solidFill>
                  <a:srgbClr val="013766"/>
                </a:solidFill>
                <a:latin typeface="Arial"/>
              </a:rPr>
              <a:t>→</a:t>
            </a:r>
          </a:p>
        </p:txBody>
      </p:sp>
      <p:sp>
        <p:nvSpPr>
          <p:cNvPr id="62" name="TextBox 61"/>
          <p:cNvSpPr txBox="1"/>
          <p:nvPr/>
        </p:nvSpPr>
        <p:spPr>
          <a:xfrm>
            <a:off x="7406640" y="28437839"/>
            <a:ext cx="182880" cy="548640"/>
          </a:xfrm>
          <a:prstGeom prst="rect">
            <a:avLst/>
          </a:prstGeom>
          <a:noFill/>
        </p:spPr>
        <p:txBody>
          <a:bodyPr wrap="square"/>
          <a:lstStyle/>
          <a:p>
            <a:pPr algn="ctr"/>
            <a:r>
              <a:rPr sz="2400" b="1" i="0">
                <a:solidFill>
                  <a:srgbClr val="013766"/>
                </a:solidFill>
                <a:latin typeface="Arial"/>
              </a:rPr>
              <a:t>→</a:t>
            </a:r>
          </a:p>
        </p:txBody>
      </p:sp>
      <p:sp>
        <p:nvSpPr>
          <p:cNvPr id="63" name="TextBox 62"/>
          <p:cNvSpPr txBox="1"/>
          <p:nvPr/>
        </p:nvSpPr>
        <p:spPr>
          <a:xfrm>
            <a:off x="9692640" y="28437839"/>
            <a:ext cx="182880" cy="548640"/>
          </a:xfrm>
          <a:prstGeom prst="rect">
            <a:avLst/>
          </a:prstGeom>
          <a:noFill/>
        </p:spPr>
        <p:txBody>
          <a:bodyPr wrap="square"/>
          <a:lstStyle/>
          <a:p>
            <a:pPr algn="ctr"/>
            <a:r>
              <a:rPr sz="2400" b="1" i="0">
                <a:solidFill>
                  <a:srgbClr val="013766"/>
                </a:solidFill>
                <a:latin typeface="Arial"/>
              </a:rPr>
              <a:t>→</a:t>
            </a:r>
          </a:p>
        </p:txBody>
      </p:sp>
      <p:sp>
        <p:nvSpPr>
          <p:cNvPr id="64" name="TextBox 63"/>
          <p:cNvSpPr txBox="1"/>
          <p:nvPr/>
        </p:nvSpPr>
        <p:spPr>
          <a:xfrm>
            <a:off x="11978640" y="28437839"/>
            <a:ext cx="182880" cy="548640"/>
          </a:xfrm>
          <a:prstGeom prst="rect">
            <a:avLst/>
          </a:prstGeom>
          <a:noFill/>
        </p:spPr>
        <p:txBody>
          <a:bodyPr wrap="square"/>
          <a:lstStyle/>
          <a:p>
            <a:pPr algn="ctr"/>
            <a:r>
              <a:rPr sz="2400" b="1" i="0">
                <a:solidFill>
                  <a:srgbClr val="013766"/>
                </a:solidFill>
                <a:latin typeface="Arial"/>
              </a:rPr>
              <a:t>→</a:t>
            </a:r>
          </a:p>
        </p:txBody>
      </p:sp>
      <p:sp>
        <p:nvSpPr>
          <p:cNvPr id="65" name="Rounded Rectangle 64"/>
          <p:cNvSpPr/>
          <p:nvPr/>
        </p:nvSpPr>
        <p:spPr>
          <a:xfrm>
            <a:off x="14859000" y="3017520"/>
            <a:ext cx="13944600" cy="1069848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5133320" y="3154679"/>
            <a:ext cx="12801600" cy="640080"/>
          </a:xfrm>
          <a:prstGeom prst="rect">
            <a:avLst/>
          </a:prstGeom>
          <a:noFill/>
        </p:spPr>
        <p:txBody>
          <a:bodyPr wrap="square"/>
          <a:lstStyle/>
          <a:p>
            <a:pPr algn="l"/>
            <a:r>
              <a:rPr sz="4000" b="1" i="0">
                <a:solidFill>
                  <a:srgbClr val="013766"/>
                </a:solidFill>
                <a:latin typeface="Arial"/>
              </a:rPr>
              <a:t>NEEMAT Web Platform: Input Data Pipeline</a:t>
            </a:r>
          </a:p>
        </p:txBody>
      </p:sp>
      <p:sp>
        <p:nvSpPr>
          <p:cNvPr id="67" name="TextBox 66"/>
          <p:cNvSpPr txBox="1"/>
          <p:nvPr/>
        </p:nvSpPr>
        <p:spPr>
          <a:xfrm>
            <a:off x="15133320" y="3931920"/>
            <a:ext cx="6583680" cy="365760"/>
          </a:xfrm>
          <a:prstGeom prst="rect">
            <a:avLst/>
          </a:prstGeom>
          <a:noFill/>
        </p:spPr>
        <p:txBody>
          <a:bodyPr wrap="square"/>
          <a:lstStyle/>
          <a:p>
            <a:pPr algn="l"/>
            <a:r>
              <a:rPr sz="2200" b="1" i="0">
                <a:solidFill>
                  <a:srgbClr val="013766"/>
                </a:solidFill>
                <a:latin typeface="Arial"/>
              </a:rPr>
              <a:t>1. Vehicle Classification (Base Year)</a:t>
            </a:r>
          </a:p>
        </p:txBody>
      </p:sp>
      <p:pic>
        <p:nvPicPr>
          <p:cNvPr id="68" name="Picture 67" descr="img_30.png"/>
          <p:cNvPicPr>
            <a:picLocks noChangeAspect="1"/>
          </p:cNvPicPr>
          <p:nvPr/>
        </p:nvPicPr>
        <p:blipFill>
          <a:blip r:embed="rId10"/>
          <a:stretch>
            <a:fillRect/>
          </a:stretch>
        </p:blipFill>
        <p:spPr>
          <a:xfrm>
            <a:off x="15133320" y="4297680"/>
            <a:ext cx="6583680" cy="2996024"/>
          </a:xfrm>
          <a:prstGeom prst="rect">
            <a:avLst/>
          </a:prstGeom>
        </p:spPr>
      </p:pic>
      <p:sp>
        <p:nvSpPr>
          <p:cNvPr id="69" name="TextBox 68"/>
          <p:cNvSpPr txBox="1"/>
          <p:nvPr/>
        </p:nvSpPr>
        <p:spPr>
          <a:xfrm>
            <a:off x="21991320" y="3931920"/>
            <a:ext cx="6583680" cy="365760"/>
          </a:xfrm>
          <a:prstGeom prst="rect">
            <a:avLst/>
          </a:prstGeom>
          <a:noFill/>
        </p:spPr>
        <p:txBody>
          <a:bodyPr wrap="square"/>
          <a:lstStyle/>
          <a:p>
            <a:pPr algn="l"/>
            <a:r>
              <a:rPr sz="2200" b="1" i="0">
                <a:solidFill>
                  <a:srgbClr val="013766"/>
                </a:solidFill>
                <a:latin typeface="Arial"/>
              </a:rPr>
              <a:t>2. Projected Vehicle Penetration Rate</a:t>
            </a:r>
          </a:p>
        </p:txBody>
      </p:sp>
      <p:pic>
        <p:nvPicPr>
          <p:cNvPr id="70" name="Picture 69" descr="img_31.png"/>
          <p:cNvPicPr>
            <a:picLocks noChangeAspect="1"/>
          </p:cNvPicPr>
          <p:nvPr/>
        </p:nvPicPr>
        <p:blipFill>
          <a:blip r:embed="rId11"/>
          <a:stretch>
            <a:fillRect/>
          </a:stretch>
        </p:blipFill>
        <p:spPr>
          <a:xfrm>
            <a:off x="21991320" y="4297680"/>
            <a:ext cx="6583680" cy="4293559"/>
          </a:xfrm>
          <a:prstGeom prst="rect">
            <a:avLst/>
          </a:prstGeom>
        </p:spPr>
      </p:pic>
      <p:sp>
        <p:nvSpPr>
          <p:cNvPr id="71" name="TextBox 70"/>
          <p:cNvSpPr txBox="1"/>
          <p:nvPr/>
        </p:nvSpPr>
        <p:spPr>
          <a:xfrm>
            <a:off x="15133320" y="8961120"/>
            <a:ext cx="6583680" cy="365760"/>
          </a:xfrm>
          <a:prstGeom prst="rect">
            <a:avLst/>
          </a:prstGeom>
          <a:noFill/>
        </p:spPr>
        <p:txBody>
          <a:bodyPr wrap="square"/>
          <a:lstStyle/>
          <a:p>
            <a:pPr algn="l"/>
            <a:r>
              <a:rPr sz="2200" b="1" i="0">
                <a:solidFill>
                  <a:srgbClr val="013766"/>
                </a:solidFill>
                <a:latin typeface="Arial"/>
              </a:rPr>
              <a:t>3. Traffic Volume &amp; Speed (Base Year)</a:t>
            </a:r>
          </a:p>
        </p:txBody>
      </p:sp>
      <p:pic>
        <p:nvPicPr>
          <p:cNvPr id="72" name="Picture 71" descr="img_32.png"/>
          <p:cNvPicPr>
            <a:picLocks noChangeAspect="1"/>
          </p:cNvPicPr>
          <p:nvPr/>
        </p:nvPicPr>
        <p:blipFill>
          <a:blip r:embed="rId12"/>
          <a:stretch>
            <a:fillRect/>
          </a:stretch>
        </p:blipFill>
        <p:spPr>
          <a:xfrm>
            <a:off x="15133320" y="9326880"/>
            <a:ext cx="6583680" cy="4338131"/>
          </a:xfrm>
          <a:prstGeom prst="rect">
            <a:avLst/>
          </a:prstGeom>
        </p:spPr>
      </p:pic>
      <p:sp>
        <p:nvSpPr>
          <p:cNvPr id="73" name="TextBox 72"/>
          <p:cNvSpPr txBox="1"/>
          <p:nvPr/>
        </p:nvSpPr>
        <p:spPr>
          <a:xfrm>
            <a:off x="21991320" y="8961120"/>
            <a:ext cx="6583680" cy="365760"/>
          </a:xfrm>
          <a:prstGeom prst="rect">
            <a:avLst/>
          </a:prstGeom>
          <a:noFill/>
        </p:spPr>
        <p:txBody>
          <a:bodyPr wrap="square"/>
          <a:lstStyle/>
          <a:p>
            <a:pPr algn="l"/>
            <a:r>
              <a:rPr sz="2200" b="1" i="0">
                <a:solidFill>
                  <a:srgbClr val="013766"/>
                </a:solidFill>
                <a:latin typeface="Arial"/>
              </a:rPr>
              <a:t>4. Projected Demand</a:t>
            </a:r>
          </a:p>
        </p:txBody>
      </p:sp>
      <p:pic>
        <p:nvPicPr>
          <p:cNvPr id="74" name="Picture 73" descr="img_33.png"/>
          <p:cNvPicPr>
            <a:picLocks noChangeAspect="1"/>
          </p:cNvPicPr>
          <p:nvPr/>
        </p:nvPicPr>
        <p:blipFill>
          <a:blip r:embed="rId13"/>
          <a:stretch>
            <a:fillRect/>
          </a:stretch>
        </p:blipFill>
        <p:spPr>
          <a:xfrm>
            <a:off x="21991320" y="9326880"/>
            <a:ext cx="6583680" cy="3992549"/>
          </a:xfrm>
          <a:prstGeom prst="rect">
            <a:avLst/>
          </a:prstGeom>
        </p:spPr>
      </p:pic>
      <p:sp>
        <p:nvSpPr>
          <p:cNvPr id="75" name="Rounded Rectangle 74"/>
          <p:cNvSpPr/>
          <p:nvPr/>
        </p:nvSpPr>
        <p:spPr>
          <a:xfrm>
            <a:off x="14859000" y="13898880"/>
            <a:ext cx="13944600" cy="877824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5133320" y="14036040"/>
            <a:ext cx="12801600" cy="640080"/>
          </a:xfrm>
          <a:prstGeom prst="rect">
            <a:avLst/>
          </a:prstGeom>
          <a:noFill/>
        </p:spPr>
        <p:txBody>
          <a:bodyPr wrap="square"/>
          <a:lstStyle/>
          <a:p>
            <a:pPr algn="l"/>
            <a:r>
              <a:rPr sz="4000" b="1" i="0">
                <a:solidFill>
                  <a:srgbClr val="013766"/>
                </a:solidFill>
                <a:latin typeface="Arial"/>
              </a:rPr>
              <a:t>Traffic Speed &amp; Volume: MFD Model (Base Year 2024)</a:t>
            </a:r>
          </a:p>
        </p:txBody>
      </p:sp>
      <p:pic>
        <p:nvPicPr>
          <p:cNvPr id="77" name="Picture 76" descr="img_34.png"/>
          <p:cNvPicPr>
            <a:picLocks noChangeAspect="1"/>
          </p:cNvPicPr>
          <p:nvPr/>
        </p:nvPicPr>
        <p:blipFill>
          <a:blip r:embed="rId14"/>
          <a:stretch>
            <a:fillRect/>
          </a:stretch>
        </p:blipFill>
        <p:spPr>
          <a:xfrm>
            <a:off x="15133320" y="14813280"/>
            <a:ext cx="6583680" cy="2172383"/>
          </a:xfrm>
          <a:prstGeom prst="rect">
            <a:avLst/>
          </a:prstGeom>
        </p:spPr>
      </p:pic>
      <p:sp>
        <p:nvSpPr>
          <p:cNvPr id="78" name="TextBox 77"/>
          <p:cNvSpPr txBox="1"/>
          <p:nvPr/>
        </p:nvSpPr>
        <p:spPr>
          <a:xfrm>
            <a:off x="15133320" y="17282160"/>
            <a:ext cx="6583680" cy="365760"/>
          </a:xfrm>
          <a:prstGeom prst="rect">
            <a:avLst/>
          </a:prstGeom>
          <a:noFill/>
        </p:spPr>
        <p:txBody>
          <a:bodyPr wrap="square"/>
          <a:lstStyle/>
          <a:p>
            <a:pPr algn="ctr"/>
            <a:r>
              <a:rPr sz="1800" b="0" i="0">
                <a:solidFill>
                  <a:srgbClr val="222222"/>
                </a:solidFill>
                <a:latin typeface="Arial"/>
              </a:rPr>
              <a:t>(a) Atlanta, GA</a:t>
            </a:r>
          </a:p>
        </p:txBody>
      </p:sp>
      <p:pic>
        <p:nvPicPr>
          <p:cNvPr id="79" name="Picture 78" descr="img_35.png"/>
          <p:cNvPicPr>
            <a:picLocks noChangeAspect="1"/>
          </p:cNvPicPr>
          <p:nvPr/>
        </p:nvPicPr>
        <p:blipFill>
          <a:blip r:embed="rId15"/>
          <a:stretch>
            <a:fillRect/>
          </a:stretch>
        </p:blipFill>
        <p:spPr>
          <a:xfrm>
            <a:off x="21991320" y="14813280"/>
            <a:ext cx="6583680" cy="2172383"/>
          </a:xfrm>
          <a:prstGeom prst="rect">
            <a:avLst/>
          </a:prstGeom>
        </p:spPr>
      </p:pic>
      <p:sp>
        <p:nvSpPr>
          <p:cNvPr id="80" name="TextBox 79"/>
          <p:cNvSpPr txBox="1"/>
          <p:nvPr/>
        </p:nvSpPr>
        <p:spPr>
          <a:xfrm>
            <a:off x="21991320" y="17282160"/>
            <a:ext cx="6583680" cy="365760"/>
          </a:xfrm>
          <a:prstGeom prst="rect">
            <a:avLst/>
          </a:prstGeom>
          <a:noFill/>
        </p:spPr>
        <p:txBody>
          <a:bodyPr wrap="square"/>
          <a:lstStyle/>
          <a:p>
            <a:pPr algn="ctr"/>
            <a:r>
              <a:rPr sz="1800" b="0" i="0">
                <a:solidFill>
                  <a:srgbClr val="222222"/>
                </a:solidFill>
                <a:latin typeface="Arial"/>
              </a:rPr>
              <a:t>(b) Los Angeles, CA</a:t>
            </a:r>
          </a:p>
        </p:txBody>
      </p:sp>
      <p:pic>
        <p:nvPicPr>
          <p:cNvPr id="81" name="Picture 80" descr="img_36.png"/>
          <p:cNvPicPr>
            <a:picLocks noChangeAspect="1"/>
          </p:cNvPicPr>
          <p:nvPr/>
        </p:nvPicPr>
        <p:blipFill>
          <a:blip r:embed="rId16"/>
          <a:stretch>
            <a:fillRect/>
          </a:stretch>
        </p:blipFill>
        <p:spPr>
          <a:xfrm>
            <a:off x="15133320" y="18470880"/>
            <a:ext cx="6583680" cy="2172383"/>
          </a:xfrm>
          <a:prstGeom prst="rect">
            <a:avLst/>
          </a:prstGeom>
        </p:spPr>
      </p:pic>
      <p:sp>
        <p:nvSpPr>
          <p:cNvPr id="82" name="TextBox 81"/>
          <p:cNvSpPr txBox="1"/>
          <p:nvPr/>
        </p:nvSpPr>
        <p:spPr>
          <a:xfrm>
            <a:off x="15133320" y="20939760"/>
            <a:ext cx="6583680" cy="365760"/>
          </a:xfrm>
          <a:prstGeom prst="rect">
            <a:avLst/>
          </a:prstGeom>
          <a:noFill/>
        </p:spPr>
        <p:txBody>
          <a:bodyPr wrap="square"/>
          <a:lstStyle/>
          <a:p>
            <a:pPr algn="ctr"/>
            <a:r>
              <a:rPr sz="1800" b="0" i="0">
                <a:solidFill>
                  <a:srgbClr val="222222"/>
                </a:solidFill>
                <a:latin typeface="Arial"/>
              </a:rPr>
              <a:t>(c) New York, NY</a:t>
            </a:r>
          </a:p>
        </p:txBody>
      </p:sp>
      <p:pic>
        <p:nvPicPr>
          <p:cNvPr id="83" name="Picture 82" descr="img_37.png"/>
          <p:cNvPicPr>
            <a:picLocks noChangeAspect="1"/>
          </p:cNvPicPr>
          <p:nvPr/>
        </p:nvPicPr>
        <p:blipFill>
          <a:blip r:embed="rId17"/>
          <a:stretch>
            <a:fillRect/>
          </a:stretch>
        </p:blipFill>
        <p:spPr>
          <a:xfrm>
            <a:off x="21991320" y="18470880"/>
            <a:ext cx="6583680" cy="2172383"/>
          </a:xfrm>
          <a:prstGeom prst="rect">
            <a:avLst/>
          </a:prstGeom>
        </p:spPr>
      </p:pic>
      <p:sp>
        <p:nvSpPr>
          <p:cNvPr id="84" name="TextBox 83"/>
          <p:cNvSpPr txBox="1"/>
          <p:nvPr/>
        </p:nvSpPr>
        <p:spPr>
          <a:xfrm>
            <a:off x="21991320" y="20939760"/>
            <a:ext cx="6583680" cy="365760"/>
          </a:xfrm>
          <a:prstGeom prst="rect">
            <a:avLst/>
          </a:prstGeom>
          <a:noFill/>
        </p:spPr>
        <p:txBody>
          <a:bodyPr wrap="square"/>
          <a:lstStyle/>
          <a:p>
            <a:pPr algn="ctr"/>
            <a:r>
              <a:rPr sz="1800" b="0" i="0">
                <a:solidFill>
                  <a:srgbClr val="222222"/>
                </a:solidFill>
                <a:latin typeface="Arial"/>
              </a:rPr>
              <a:t>(d) Seattle, WA</a:t>
            </a:r>
          </a:p>
        </p:txBody>
      </p:sp>
      <p:sp>
        <p:nvSpPr>
          <p:cNvPr id="85" name="TextBox 84"/>
          <p:cNvSpPr txBox="1"/>
          <p:nvPr/>
        </p:nvSpPr>
        <p:spPr>
          <a:xfrm>
            <a:off x="15133320" y="21945600"/>
            <a:ext cx="13395960" cy="548640"/>
          </a:xfrm>
          <a:prstGeom prst="rect">
            <a:avLst/>
          </a:prstGeom>
          <a:noFill/>
        </p:spPr>
        <p:txBody>
          <a:bodyPr wrap="square"/>
          <a:lstStyle/>
          <a:p>
            <a:pPr algn="l"/>
            <a:r>
              <a:rPr sz="1800" b="0" i="0">
                <a:solidFill>
                  <a:srgbClr val="222222"/>
                </a:solidFill>
                <a:latin typeface="Arial"/>
              </a:rPr>
              <a:t>Modified MFD: volume → speed via nonlinear root-finding (scipy.optimize.fsolve). Calibrated R² &gt; 0.85 for all census tracts across all 4 cities.</a:t>
            </a:r>
          </a:p>
        </p:txBody>
      </p:sp>
      <p:sp>
        <p:nvSpPr>
          <p:cNvPr id="86" name="Rounded Rectangle 85"/>
          <p:cNvSpPr/>
          <p:nvPr/>
        </p:nvSpPr>
        <p:spPr>
          <a:xfrm>
            <a:off x="14859000" y="22860000"/>
            <a:ext cx="13944600" cy="713232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5133320" y="22997160"/>
            <a:ext cx="12801600" cy="640080"/>
          </a:xfrm>
          <a:prstGeom prst="rect">
            <a:avLst/>
          </a:prstGeom>
          <a:noFill/>
        </p:spPr>
        <p:txBody>
          <a:bodyPr wrap="square"/>
          <a:lstStyle/>
          <a:p>
            <a:pPr algn="l"/>
            <a:r>
              <a:rPr sz="4000" b="1" i="0">
                <a:solidFill>
                  <a:srgbClr val="013766"/>
                </a:solidFill>
                <a:latin typeface="Arial"/>
              </a:rPr>
              <a:t>Web Application: Results &amp; Visualization</a:t>
            </a:r>
          </a:p>
        </p:txBody>
      </p:sp>
      <p:pic>
        <p:nvPicPr>
          <p:cNvPr id="88" name="Picture 87" descr="img_47.png"/>
          <p:cNvPicPr>
            <a:picLocks noChangeAspect="1"/>
          </p:cNvPicPr>
          <p:nvPr/>
        </p:nvPicPr>
        <p:blipFill>
          <a:blip r:embed="rId18"/>
          <a:stretch>
            <a:fillRect/>
          </a:stretch>
        </p:blipFill>
        <p:spPr>
          <a:xfrm>
            <a:off x="15133320" y="23774400"/>
            <a:ext cx="6583680" cy="3908990"/>
          </a:xfrm>
          <a:prstGeom prst="rect">
            <a:avLst/>
          </a:prstGeom>
        </p:spPr>
      </p:pic>
      <p:pic>
        <p:nvPicPr>
          <p:cNvPr id="89" name="Picture 88" descr="img_48.png"/>
          <p:cNvPicPr>
            <a:picLocks noChangeAspect="1"/>
          </p:cNvPicPr>
          <p:nvPr/>
        </p:nvPicPr>
        <p:blipFill>
          <a:blip r:embed="rId19"/>
          <a:stretch>
            <a:fillRect/>
          </a:stretch>
        </p:blipFill>
        <p:spPr>
          <a:xfrm>
            <a:off x="21899880" y="23774400"/>
            <a:ext cx="6583680" cy="4281631"/>
          </a:xfrm>
          <a:prstGeom prst="rect">
            <a:avLst/>
          </a:prstGeom>
        </p:spPr>
      </p:pic>
      <p:sp>
        <p:nvSpPr>
          <p:cNvPr id="90" name="TextBox 89"/>
          <p:cNvSpPr txBox="1"/>
          <p:nvPr/>
        </p:nvSpPr>
        <p:spPr>
          <a:xfrm>
            <a:off x="15133320" y="27706320"/>
            <a:ext cx="6583680" cy="365760"/>
          </a:xfrm>
          <a:prstGeom prst="rect">
            <a:avLst/>
          </a:prstGeom>
          <a:noFill/>
        </p:spPr>
        <p:txBody>
          <a:bodyPr wrap="square"/>
          <a:lstStyle/>
          <a:p>
            <a:pPr algn="ctr"/>
            <a:r>
              <a:rPr sz="1800" b="1" i="0">
                <a:solidFill>
                  <a:srgbClr val="013766"/>
                </a:solidFill>
                <a:latin typeface="Arial"/>
              </a:rPr>
              <a:t>Results: Daily View (24-hour profile)</a:t>
            </a:r>
          </a:p>
        </p:txBody>
      </p:sp>
      <p:sp>
        <p:nvSpPr>
          <p:cNvPr id="91" name="TextBox 90"/>
          <p:cNvSpPr txBox="1"/>
          <p:nvPr/>
        </p:nvSpPr>
        <p:spPr>
          <a:xfrm>
            <a:off x="21899880" y="27706320"/>
            <a:ext cx="6583680" cy="365760"/>
          </a:xfrm>
          <a:prstGeom prst="rect">
            <a:avLst/>
          </a:prstGeom>
          <a:noFill/>
        </p:spPr>
        <p:txBody>
          <a:bodyPr wrap="square"/>
          <a:lstStyle/>
          <a:p>
            <a:pPr algn="ctr"/>
            <a:r>
              <a:rPr sz="1800" b="1" i="0">
                <a:solidFill>
                  <a:srgbClr val="013766"/>
                </a:solidFill>
                <a:latin typeface="Arial"/>
              </a:rPr>
              <a:t>Results: Annual View (multi-year trend)</a:t>
            </a:r>
          </a:p>
        </p:txBody>
      </p:sp>
      <p:pic>
        <p:nvPicPr>
          <p:cNvPr id="92" name="Picture 91" descr="img_39.png"/>
          <p:cNvPicPr>
            <a:picLocks noChangeAspect="1"/>
          </p:cNvPicPr>
          <p:nvPr/>
        </p:nvPicPr>
        <p:blipFill>
          <a:blip r:embed="rId20"/>
          <a:stretch>
            <a:fillRect/>
          </a:stretch>
        </p:blipFill>
        <p:spPr>
          <a:xfrm>
            <a:off x="15133320" y="28163520"/>
            <a:ext cx="2780091" cy="1645920"/>
          </a:xfrm>
          <a:prstGeom prst="rect">
            <a:avLst/>
          </a:prstGeom>
        </p:spPr>
      </p:pic>
      <p:sp>
        <p:nvSpPr>
          <p:cNvPr id="93" name="TextBox 92"/>
          <p:cNvSpPr txBox="1"/>
          <p:nvPr/>
        </p:nvSpPr>
        <p:spPr>
          <a:xfrm>
            <a:off x="21259800" y="28163520"/>
            <a:ext cx="7315200" cy="1645920"/>
          </a:xfrm>
          <a:prstGeom prst="rect">
            <a:avLst/>
          </a:prstGeom>
          <a:noFill/>
        </p:spPr>
        <p:txBody>
          <a:bodyPr wrap="square"/>
          <a:lstStyle/>
          <a:p>
            <a:pPr algn="l"/>
            <a:r>
              <a:rPr sz="2000" b="0" i="0">
                <a:solidFill>
                  <a:srgbClr val="222222"/>
                </a:solidFill>
                <a:latin typeface="Arial"/>
              </a:rPr>
              <a:t>Users select City, Year, Vehicle/Grid domain, and Temporal View (Daily or Annual). Interactive charts with zoom, hover tooltips, tract-level map selection, and CSV export.</a:t>
            </a:r>
          </a:p>
        </p:txBody>
      </p:sp>
      <p:sp>
        <p:nvSpPr>
          <p:cNvPr id="94" name="Rounded Rectangle 93"/>
          <p:cNvSpPr/>
          <p:nvPr/>
        </p:nvSpPr>
        <p:spPr>
          <a:xfrm>
            <a:off x="29260800" y="3017520"/>
            <a:ext cx="13944600" cy="658368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9535119" y="3154679"/>
            <a:ext cx="12801600" cy="640080"/>
          </a:xfrm>
          <a:prstGeom prst="rect">
            <a:avLst/>
          </a:prstGeom>
          <a:noFill/>
        </p:spPr>
        <p:txBody>
          <a:bodyPr wrap="square"/>
          <a:lstStyle/>
          <a:p>
            <a:pPr algn="l"/>
            <a:r>
              <a:rPr sz="4000" b="1" i="0">
                <a:solidFill>
                  <a:srgbClr val="013766"/>
                </a:solidFill>
                <a:latin typeface="Arial"/>
              </a:rPr>
              <a:t>Platform: Data, Models &amp; Scenarios</a:t>
            </a:r>
          </a:p>
        </p:txBody>
      </p:sp>
      <p:sp>
        <p:nvSpPr>
          <p:cNvPr id="96" name="TextBox 95"/>
          <p:cNvSpPr txBox="1"/>
          <p:nvPr/>
        </p:nvSpPr>
        <p:spPr>
          <a:xfrm>
            <a:off x="29535119" y="3840480"/>
            <a:ext cx="13395960" cy="548640"/>
          </a:xfrm>
          <a:prstGeom prst="rect">
            <a:avLst/>
          </a:prstGeom>
          <a:noFill/>
        </p:spPr>
        <p:txBody>
          <a:bodyPr wrap="square"/>
          <a:lstStyle/>
          <a:p>
            <a:pPr algn="l"/>
            <a:r>
              <a:rPr sz="2200" b="0" i="0">
                <a:solidFill>
                  <a:srgbClr val="222222"/>
                </a:solidFill>
                <a:latin typeface="Arial"/>
              </a:rPr>
              <a:t>An integrated web platform quantifying emissions from EV charging and road traffic by combining traffic, vehicle, and grid models.</a:t>
            </a:r>
          </a:p>
        </p:txBody>
      </p:sp>
      <p:sp>
        <p:nvSpPr>
          <p:cNvPr id="97" name="TextBox 96"/>
          <p:cNvSpPr txBox="1"/>
          <p:nvPr/>
        </p:nvSpPr>
        <p:spPr>
          <a:xfrm>
            <a:off x="29535119" y="4389120"/>
            <a:ext cx="13395960" cy="1188720"/>
          </a:xfrm>
          <a:prstGeom prst="rect">
            <a:avLst/>
          </a:prstGeom>
          <a:noFill/>
        </p:spPr>
        <p:txBody>
          <a:bodyPr wrap="square"/>
          <a:lstStyle/>
          <a:p>
            <a:r>
              <a:rPr sz="2000" b="1">
                <a:solidFill>
                  <a:srgbClr val="013766"/>
                </a:solidFill>
                <a:latin typeface="Arial"/>
              </a:rPr>
              <a:t>Data (Website Inputs)  </a:t>
            </a:r>
            <a:r>
              <a:rPr sz="1800">
                <a:solidFill>
                  <a:srgbClr val="222222"/>
                </a:solidFill>
                <a:latin typeface="Arial"/>
              </a:rPr>
              <a:t>Vehicle Fleet: GA/CA/NY/WA registrations (base) and projected EV penetration.
Traffic: tract-level 15-min volume &amp; density (base + projections).
Libraries: MOVES 4.0 vehicle rates; NREL Cambium marginal grid rates.</a:t>
            </a:r>
          </a:p>
        </p:txBody>
      </p:sp>
      <p:sp>
        <p:nvSpPr>
          <p:cNvPr id="98" name="TextBox 97"/>
          <p:cNvSpPr txBox="1"/>
          <p:nvPr/>
        </p:nvSpPr>
        <p:spPr>
          <a:xfrm>
            <a:off x="29535119" y="5669279"/>
            <a:ext cx="13395960" cy="1188720"/>
          </a:xfrm>
          <a:prstGeom prst="rect">
            <a:avLst/>
          </a:prstGeom>
          <a:noFill/>
        </p:spPr>
        <p:txBody>
          <a:bodyPr wrap="square"/>
          <a:lstStyle/>
          <a:p>
            <a:r>
              <a:rPr sz="2000" b="1">
                <a:solidFill>
                  <a:srgbClr val="013766"/>
                </a:solidFill>
                <a:latin typeface="Arial"/>
              </a:rPr>
              <a:t>Models (Built-in)  </a:t>
            </a:r>
            <a:r>
              <a:rPr sz="1800">
                <a:solidFill>
                  <a:srgbClr val="222222"/>
                </a:solidFill>
                <a:latin typeface="Arial"/>
              </a:rPr>
              <a:t>Vehicle: feed-forward NN → CO₂/NOx/PM₂.₅ &amp; Energy vs speed (type × fuel × age).
Traffic Flow: Modified MFD to estimate speed from density.
Power Plant: Meta-Prophet for marginal grid emissions (CO₂, CH₄, N₂O).</a:t>
            </a:r>
          </a:p>
        </p:txBody>
      </p:sp>
      <p:sp>
        <p:nvSpPr>
          <p:cNvPr id="99" name="TextBox 98"/>
          <p:cNvSpPr txBox="1"/>
          <p:nvPr/>
        </p:nvSpPr>
        <p:spPr>
          <a:xfrm>
            <a:off x="29535119" y="6949440"/>
            <a:ext cx="13395960" cy="1188720"/>
          </a:xfrm>
          <a:prstGeom prst="rect">
            <a:avLst/>
          </a:prstGeom>
          <a:noFill/>
        </p:spPr>
        <p:txBody>
          <a:bodyPr wrap="square"/>
          <a:lstStyle/>
          <a:p>
            <a:r>
              <a:rPr sz="2000" b="1">
                <a:solidFill>
                  <a:srgbClr val="013766"/>
                </a:solidFill>
                <a:latin typeface="Arial"/>
              </a:rPr>
              <a:t>Integration  </a:t>
            </a:r>
            <a:r>
              <a:rPr sz="1800">
                <a:solidFill>
                  <a:srgbClr val="222222"/>
                </a:solidFill>
                <a:latin typeface="Arial"/>
              </a:rPr>
              <a:t>Combines EV energy demand, grid emissions, and traffic data to predict total GHG. Results page: Daily (24-hr) and Annual (multi-year) with Download.</a:t>
            </a:r>
          </a:p>
        </p:txBody>
      </p:sp>
      <p:sp>
        <p:nvSpPr>
          <p:cNvPr id="100" name="TextBox 99"/>
          <p:cNvSpPr txBox="1"/>
          <p:nvPr/>
        </p:nvSpPr>
        <p:spPr>
          <a:xfrm>
            <a:off x="29535119" y="8229600"/>
            <a:ext cx="13395960" cy="1188720"/>
          </a:xfrm>
          <a:prstGeom prst="rect">
            <a:avLst/>
          </a:prstGeom>
          <a:noFill/>
        </p:spPr>
        <p:txBody>
          <a:bodyPr wrap="square"/>
          <a:lstStyle/>
          <a:p>
            <a:r>
              <a:rPr sz="2000" b="1">
                <a:solidFill>
                  <a:srgbClr val="013766"/>
                </a:solidFill>
                <a:latin typeface="Arial"/>
              </a:rPr>
              <a:t>Scenarios  </a:t>
            </a:r>
            <a:r>
              <a:rPr sz="1800">
                <a:solidFill>
                  <a:srgbClr val="222222"/>
                </a:solidFill>
                <a:latin typeface="Arial"/>
              </a:rPr>
              <a:t>Projection years 2025–2030. EV adoption levels 25% to 100%. Study area: downtown tracts in Atlanta, LA, New York, Seattle.</a:t>
            </a:r>
          </a:p>
        </p:txBody>
      </p:sp>
      <p:sp>
        <p:nvSpPr>
          <p:cNvPr id="101" name="Rounded Rectangle 100"/>
          <p:cNvSpPr/>
          <p:nvPr/>
        </p:nvSpPr>
        <p:spPr>
          <a:xfrm>
            <a:off x="29260800" y="9784080"/>
            <a:ext cx="13944600" cy="1033272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29535119" y="9921240"/>
            <a:ext cx="12801600" cy="640080"/>
          </a:xfrm>
          <a:prstGeom prst="rect">
            <a:avLst/>
          </a:prstGeom>
          <a:noFill/>
        </p:spPr>
        <p:txBody>
          <a:bodyPr wrap="square"/>
          <a:lstStyle/>
          <a:p>
            <a:pPr algn="l"/>
            <a:r>
              <a:rPr sz="4000" b="1" i="0">
                <a:solidFill>
                  <a:srgbClr val="013766"/>
                </a:solidFill>
                <a:latin typeface="Arial"/>
              </a:rPr>
              <a:t>Grid Emission Rate Analysis</a:t>
            </a:r>
          </a:p>
        </p:txBody>
      </p:sp>
      <p:pic>
        <p:nvPicPr>
          <p:cNvPr id="103" name="Picture 102" descr="img_40.png"/>
          <p:cNvPicPr>
            <a:picLocks noChangeAspect="1"/>
          </p:cNvPicPr>
          <p:nvPr/>
        </p:nvPicPr>
        <p:blipFill>
          <a:blip r:embed="rId21"/>
          <a:stretch>
            <a:fillRect/>
          </a:stretch>
        </p:blipFill>
        <p:spPr>
          <a:xfrm>
            <a:off x="37947600" y="10607040"/>
            <a:ext cx="5029200" cy="2733822"/>
          </a:xfrm>
          <a:prstGeom prst="rect">
            <a:avLst/>
          </a:prstGeom>
        </p:spPr>
      </p:pic>
      <p:pic>
        <p:nvPicPr>
          <p:cNvPr id="104" name="Picture 103" descr="img_41.png"/>
          <p:cNvPicPr>
            <a:picLocks noChangeAspect="1"/>
          </p:cNvPicPr>
          <p:nvPr/>
        </p:nvPicPr>
        <p:blipFill>
          <a:blip r:embed="rId22"/>
          <a:stretch>
            <a:fillRect/>
          </a:stretch>
        </p:blipFill>
        <p:spPr>
          <a:xfrm>
            <a:off x="29535119" y="10698480"/>
            <a:ext cx="8229600" cy="2816101"/>
          </a:xfrm>
          <a:prstGeom prst="rect">
            <a:avLst/>
          </a:prstGeom>
        </p:spPr>
      </p:pic>
      <p:sp>
        <p:nvSpPr>
          <p:cNvPr id="105" name="TextBox 104"/>
          <p:cNvSpPr txBox="1"/>
          <p:nvPr/>
        </p:nvSpPr>
        <p:spPr>
          <a:xfrm>
            <a:off x="37947600" y="12984480"/>
            <a:ext cx="5029200" cy="457200"/>
          </a:xfrm>
          <a:prstGeom prst="rect">
            <a:avLst/>
          </a:prstGeom>
          <a:noFill/>
        </p:spPr>
        <p:txBody>
          <a:bodyPr wrap="square"/>
          <a:lstStyle/>
          <a:p>
            <a:pPr algn="l"/>
            <a:r>
              <a:rPr sz="2000" b="1" i="0">
                <a:solidFill>
                  <a:srgbClr val="013766"/>
                </a:solidFill>
                <a:latin typeface="Arial"/>
              </a:rPr>
              <a:t>Annual CO₂ (ton) Projections</a:t>
            </a:r>
          </a:p>
        </p:txBody>
      </p:sp>
      <p:pic>
        <p:nvPicPr>
          <p:cNvPr id="106" name="Picture 105" descr="img_42.png"/>
          <p:cNvPicPr>
            <a:picLocks noChangeAspect="1"/>
          </p:cNvPicPr>
          <p:nvPr/>
        </p:nvPicPr>
        <p:blipFill>
          <a:blip r:embed="rId23"/>
          <a:stretch>
            <a:fillRect/>
          </a:stretch>
        </p:blipFill>
        <p:spPr>
          <a:xfrm>
            <a:off x="29535119" y="13624559"/>
            <a:ext cx="8229600" cy="2816101"/>
          </a:xfrm>
          <a:prstGeom prst="rect">
            <a:avLst/>
          </a:prstGeom>
        </p:spPr>
      </p:pic>
      <p:sp>
        <p:nvSpPr>
          <p:cNvPr id="107" name="TextBox 106"/>
          <p:cNvSpPr txBox="1"/>
          <p:nvPr/>
        </p:nvSpPr>
        <p:spPr>
          <a:xfrm>
            <a:off x="37947600" y="14996159"/>
            <a:ext cx="5029200" cy="457200"/>
          </a:xfrm>
          <a:prstGeom prst="rect">
            <a:avLst/>
          </a:prstGeom>
          <a:noFill/>
        </p:spPr>
        <p:txBody>
          <a:bodyPr wrap="square"/>
          <a:lstStyle/>
          <a:p>
            <a:pPr algn="l"/>
            <a:r>
              <a:rPr sz="2000" b="1" i="0">
                <a:solidFill>
                  <a:srgbClr val="013766"/>
                </a:solidFill>
                <a:latin typeface="Arial"/>
              </a:rPr>
              <a:t>Annual CH₄ (kg) Projections</a:t>
            </a:r>
          </a:p>
        </p:txBody>
      </p:sp>
      <p:pic>
        <p:nvPicPr>
          <p:cNvPr id="108" name="Picture 107" descr="img_43.png"/>
          <p:cNvPicPr>
            <a:picLocks noChangeAspect="1"/>
          </p:cNvPicPr>
          <p:nvPr/>
        </p:nvPicPr>
        <p:blipFill>
          <a:blip r:embed="rId24"/>
          <a:stretch>
            <a:fillRect/>
          </a:stretch>
        </p:blipFill>
        <p:spPr>
          <a:xfrm>
            <a:off x="29535119" y="16550640"/>
            <a:ext cx="8229600" cy="2816101"/>
          </a:xfrm>
          <a:prstGeom prst="rect">
            <a:avLst/>
          </a:prstGeom>
        </p:spPr>
      </p:pic>
      <p:sp>
        <p:nvSpPr>
          <p:cNvPr id="109" name="TextBox 108"/>
          <p:cNvSpPr txBox="1"/>
          <p:nvPr/>
        </p:nvSpPr>
        <p:spPr>
          <a:xfrm>
            <a:off x="37947600" y="17922240"/>
            <a:ext cx="5029200" cy="457200"/>
          </a:xfrm>
          <a:prstGeom prst="rect">
            <a:avLst/>
          </a:prstGeom>
          <a:noFill/>
        </p:spPr>
        <p:txBody>
          <a:bodyPr wrap="square"/>
          <a:lstStyle/>
          <a:p>
            <a:pPr algn="l"/>
            <a:r>
              <a:rPr sz="2000" b="1" i="0">
                <a:solidFill>
                  <a:srgbClr val="013766"/>
                </a:solidFill>
                <a:latin typeface="Arial"/>
              </a:rPr>
              <a:t>Annual N₂O (kg) Projections</a:t>
            </a:r>
          </a:p>
        </p:txBody>
      </p:sp>
      <p:sp>
        <p:nvSpPr>
          <p:cNvPr id="110" name="TextBox 109"/>
          <p:cNvSpPr txBox="1"/>
          <p:nvPr/>
        </p:nvSpPr>
        <p:spPr>
          <a:xfrm>
            <a:off x="29535119" y="19293840"/>
            <a:ext cx="13395960" cy="640080"/>
          </a:xfrm>
          <a:prstGeom prst="rect">
            <a:avLst/>
          </a:prstGeom>
          <a:noFill/>
        </p:spPr>
        <p:txBody>
          <a:bodyPr wrap="square"/>
          <a:lstStyle/>
          <a:p>
            <a:pPr algn="l"/>
            <a:r>
              <a:rPr sz="1800" b="0" i="0">
                <a:solidFill>
                  <a:srgbClr val="222222"/>
                </a:solidFill>
                <a:latin typeface="Arial"/>
              </a:rPr>
              <a:t>Six NREL Cambium grid scenarios: mid-case, low/high renewable costs, high demand growth, low/high natural gas prices. Meta-Prophet time-series forecasting.</a:t>
            </a:r>
          </a:p>
        </p:txBody>
      </p:sp>
      <p:sp>
        <p:nvSpPr>
          <p:cNvPr id="111" name="Rounded Rectangle 110"/>
          <p:cNvSpPr/>
          <p:nvPr/>
        </p:nvSpPr>
        <p:spPr>
          <a:xfrm>
            <a:off x="29260800" y="20299680"/>
            <a:ext cx="13944600" cy="9692640"/>
          </a:xfrm>
          <a:prstGeom prst="roundRect">
            <a:avLst/>
          </a:prstGeom>
          <a:solidFill>
            <a:srgbClr val="F5F5F5"/>
          </a:solidFill>
          <a:ln w="19050">
            <a:solidFill>
              <a:srgbClr val="0137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29535119" y="20436839"/>
            <a:ext cx="12801600" cy="640080"/>
          </a:xfrm>
          <a:prstGeom prst="rect">
            <a:avLst/>
          </a:prstGeom>
          <a:noFill/>
        </p:spPr>
        <p:txBody>
          <a:bodyPr wrap="square"/>
          <a:lstStyle/>
          <a:p>
            <a:pPr algn="l"/>
            <a:r>
              <a:rPr sz="4000" b="1" i="0">
                <a:solidFill>
                  <a:srgbClr val="013766"/>
                </a:solidFill>
                <a:latin typeface="Arial"/>
              </a:rPr>
              <a:t>Key Findings &amp; Model Validation</a:t>
            </a:r>
          </a:p>
        </p:txBody>
      </p:sp>
      <p:sp>
        <p:nvSpPr>
          <p:cNvPr id="113" name="TextBox 112"/>
          <p:cNvSpPr txBox="1"/>
          <p:nvPr/>
        </p:nvSpPr>
        <p:spPr>
          <a:xfrm>
            <a:off x="29535119" y="21122639"/>
            <a:ext cx="13395960" cy="5943600"/>
          </a:xfrm>
          <a:prstGeom prst="rect">
            <a:avLst/>
          </a:prstGeom>
          <a:noFill/>
        </p:spPr>
        <p:txBody>
          <a:bodyPr wrap="square"/>
          <a:lstStyle/>
          <a:p>
            <a:pPr algn="l"/>
            <a:r>
              <a:rPr sz="2200" b="0" i="0">
                <a:solidFill>
                  <a:srgbClr val="222222"/>
                </a:solidFill>
                <a:latin typeface="Arial"/>
              </a:rPr>
              <a:t>NEEMAT delivers highly accurate predictions:</a:t>
            </a:r>
          </a:p>
          <a:p>
            <a:pPr algn="l"/>
            <a:r>
              <a:rPr sz="2200" b="0" i="0">
                <a:solidFill>
                  <a:srgbClr val="222222"/>
                </a:solidFill>
                <a:latin typeface="Arial"/>
              </a:rPr>
              <a:t>• Vehicle NN on MOVES 4.0 achieves R² = 0.996 to 0.999</a:t>
            </a:r>
          </a:p>
          <a:p>
            <a:pPr algn="l"/>
            <a:r>
              <a:rPr sz="2200" b="0" i="0">
                <a:solidFill>
                  <a:srgbClr val="222222"/>
                </a:solidFill>
                <a:latin typeface="Arial"/>
              </a:rPr>
              <a:t>• MFD speed model holds R² &gt; 0.85 across all city tracts</a:t>
            </a:r>
          </a:p>
          <a:p>
            <a:pPr algn="l"/>
            <a:r>
              <a:rPr sz="2200" b="0" i="0">
                <a:solidFill>
                  <a:srgbClr val="222222"/>
                </a:solidFill>
                <a:latin typeface="Arial"/>
              </a:rPr>
              <a:t>• Grid forecasts calibrated against NREL Cambium baselines</a:t>
            </a:r>
          </a:p>
          <a:p>
            <a:pPr algn="l"/>
            <a:r>
              <a:rPr sz="2200" b="0" i="0">
                <a:solidFill>
                  <a:srgbClr val="222222"/>
                </a:solidFill>
                <a:latin typeface="Arial"/>
              </a:rPr>
              <a:t/>
            </a:r>
          </a:p>
          <a:p>
            <a:pPr algn="l"/>
            <a:r>
              <a:rPr sz="2200" b="0" i="0">
                <a:solidFill>
                  <a:srgbClr val="222222"/>
                </a:solidFill>
                <a:latin typeface="Arial"/>
              </a:rPr>
              <a:t>Atlanta (Georgia) by 2030 Projections:</a:t>
            </a:r>
          </a:p>
          <a:p>
            <a:pPr algn="l"/>
            <a:r>
              <a:rPr sz="2200" b="0" i="0">
                <a:solidFill>
                  <a:srgbClr val="222222"/>
                </a:solidFill>
                <a:latin typeface="Arial"/>
              </a:rPr>
              <a:t>• EV adoption: up to 46%</a:t>
            </a:r>
          </a:p>
          <a:p>
            <a:pPr algn="l"/>
            <a:r>
              <a:rPr sz="2200" b="0" i="0">
                <a:solidFill>
                  <a:srgbClr val="222222"/>
                </a:solidFill>
                <a:latin typeface="Arial"/>
              </a:rPr>
              <a:t>• Gasoline vehicle energy consumption: +86.61%</a:t>
            </a:r>
          </a:p>
          <a:p>
            <a:pPr algn="l"/>
            <a:r>
              <a:rPr sz="2200" b="0" i="0">
                <a:solidFill>
                  <a:srgbClr val="222222"/>
                </a:solidFill>
                <a:latin typeface="Arial"/>
              </a:rPr>
              <a:t>• GHG emissions from vehicles: +87.03%</a:t>
            </a:r>
          </a:p>
          <a:p>
            <a:pPr algn="l"/>
            <a:r>
              <a:rPr sz="2200" b="0" i="0">
                <a:solidFill>
                  <a:srgbClr val="222222"/>
                </a:solidFill>
                <a:latin typeface="Arial"/>
              </a:rPr>
              <a:t>• EV energy consumption from grid: +74.89%</a:t>
            </a:r>
          </a:p>
          <a:p>
            <a:pPr algn="l"/>
            <a:r>
              <a:rPr sz="2200" b="0" i="0">
                <a:solidFill>
                  <a:srgbClr val="222222"/>
                </a:solidFill>
                <a:latin typeface="Arial"/>
              </a:rPr>
              <a:t>• GHG emissions from power plants: +77.61%</a:t>
            </a:r>
          </a:p>
          <a:p>
            <a:pPr algn="l"/>
            <a:r>
              <a:rPr sz="2200" b="0" i="0">
                <a:solidFill>
                  <a:srgbClr val="222222"/>
                </a:solidFill>
                <a:latin typeface="Arial"/>
              </a:rPr>
              <a:t/>
            </a:r>
          </a:p>
          <a:p>
            <a:pPr algn="l"/>
            <a:r>
              <a:rPr sz="2200" b="0" i="0">
                <a:solidFill>
                  <a:srgbClr val="222222"/>
                </a:solidFill>
                <a:latin typeface="Arial"/>
              </a:rPr>
              <a:t>Users select City and Domain (Vehicle or Grid) and choose a</a:t>
            </a:r>
          </a:p>
          <a:p>
            <a:pPr algn="l"/>
            <a:r>
              <a:rPr sz="2200" b="0" i="0">
                <a:solidFill>
                  <a:srgbClr val="222222"/>
                </a:solidFill>
                <a:latin typeface="Arial"/>
              </a:rPr>
              <a:t>Temporal View: Daily renders 24-hour profiles of fuel use,</a:t>
            </a:r>
          </a:p>
          <a:p>
            <a:pPr algn="l"/>
            <a:r>
              <a:rPr sz="2200" b="0" i="0">
                <a:solidFill>
                  <a:srgbClr val="222222"/>
                </a:solidFill>
                <a:latin typeface="Arial"/>
              </a:rPr>
              <a:t>emissions, and energy by tract; Annual traces multi-year</a:t>
            </a:r>
          </a:p>
          <a:p>
            <a:pPr algn="l"/>
            <a:r>
              <a:rPr sz="2200" b="0" i="0">
                <a:solidFill>
                  <a:srgbClr val="222222"/>
                </a:solidFill>
                <a:latin typeface="Arial"/>
              </a:rPr>
              <a:t>trajectories under user-selected EV penetration scenarios.</a:t>
            </a:r>
          </a:p>
        </p:txBody>
      </p:sp>
      <p:pic>
        <p:nvPicPr>
          <p:cNvPr id="114" name="Picture 113" descr="img_45.png"/>
          <p:cNvPicPr>
            <a:picLocks noChangeAspect="1"/>
          </p:cNvPicPr>
          <p:nvPr/>
        </p:nvPicPr>
        <p:blipFill>
          <a:blip r:embed="rId25"/>
          <a:stretch>
            <a:fillRect/>
          </a:stretch>
        </p:blipFill>
        <p:spPr>
          <a:xfrm>
            <a:off x="29718000" y="27157680"/>
            <a:ext cx="1323173" cy="2560320"/>
          </a:xfrm>
          <a:prstGeom prst="rect">
            <a:avLst/>
          </a:prstGeom>
        </p:spPr>
      </p:pic>
      <p:pic>
        <p:nvPicPr>
          <p:cNvPr id="115" name="Picture 114" descr="img_44.png"/>
          <p:cNvPicPr>
            <a:picLocks noChangeAspect="1"/>
          </p:cNvPicPr>
          <p:nvPr/>
        </p:nvPicPr>
        <p:blipFill>
          <a:blip r:embed="rId26"/>
          <a:stretch>
            <a:fillRect/>
          </a:stretch>
        </p:blipFill>
        <p:spPr>
          <a:xfrm>
            <a:off x="32461200" y="27157680"/>
            <a:ext cx="5029200" cy="2980900"/>
          </a:xfrm>
          <a:prstGeom prst="rect">
            <a:avLst/>
          </a:prstGeom>
        </p:spPr>
      </p:pic>
      <p:pic>
        <p:nvPicPr>
          <p:cNvPr id="116" name="Picture 115" descr="img_40.png"/>
          <p:cNvPicPr>
            <a:picLocks noChangeAspect="1"/>
          </p:cNvPicPr>
          <p:nvPr/>
        </p:nvPicPr>
        <p:blipFill>
          <a:blip r:embed="rId21"/>
          <a:stretch>
            <a:fillRect/>
          </a:stretch>
        </p:blipFill>
        <p:spPr>
          <a:xfrm>
            <a:off x="37947600" y="27157680"/>
            <a:ext cx="5029200" cy="273382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